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  <p:sldMasterId id="2147483771" r:id="rId2"/>
    <p:sldMasterId id="2147483791" r:id="rId3"/>
  </p:sldMasterIdLst>
  <p:notesMasterIdLst>
    <p:notesMasterId r:id="rId19"/>
  </p:notesMasterIdLst>
  <p:sldIdLst>
    <p:sldId id="406" r:id="rId4"/>
    <p:sldId id="385" r:id="rId5"/>
    <p:sldId id="390" r:id="rId6"/>
    <p:sldId id="396" r:id="rId7"/>
    <p:sldId id="391" r:id="rId8"/>
    <p:sldId id="392" r:id="rId9"/>
    <p:sldId id="399" r:id="rId10"/>
    <p:sldId id="402" r:id="rId11"/>
    <p:sldId id="409" r:id="rId12"/>
    <p:sldId id="408" r:id="rId13"/>
    <p:sldId id="410" r:id="rId14"/>
    <p:sldId id="411" r:id="rId15"/>
    <p:sldId id="407" r:id="rId16"/>
    <p:sldId id="394" r:id="rId17"/>
    <p:sldId id="363" r:id="rId18"/>
  </p:sldIdLst>
  <p:sldSz cx="12192000" cy="6858000"/>
  <p:notesSz cx="9144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976" userDrawn="1">
          <p15:clr>
            <a:srgbClr val="A4A3A4"/>
          </p15:clr>
        </p15:guide>
        <p15:guide id="3" orient="horz" pos="2472" userDrawn="1">
          <p15:clr>
            <a:srgbClr val="A4A3A4"/>
          </p15:clr>
        </p15:guide>
        <p15:guide id="4" orient="horz" pos="13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59" autoAdjust="0"/>
    <p:restoredTop sz="96984" autoAdjust="0"/>
  </p:normalViewPr>
  <p:slideViewPr>
    <p:cSldViewPr showGuides="1">
      <p:cViewPr varScale="1">
        <p:scale>
          <a:sx n="74" d="100"/>
          <a:sy n="74" d="100"/>
        </p:scale>
        <p:origin x="84" y="240"/>
      </p:cViewPr>
      <p:guideLst>
        <p:guide orient="horz"/>
        <p:guide pos="3976"/>
        <p:guide orient="horz" pos="2472"/>
        <p:guide orient="horz" pos="1389"/>
      </p:guideLst>
    </p:cSldViewPr>
  </p:slideViewPr>
  <p:outlineViewPr>
    <p:cViewPr>
      <p:scale>
        <a:sx n="33" d="100"/>
        <a:sy n="33" d="100"/>
      </p:scale>
      <p:origin x="0" y="-179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6" d="100"/>
        <a:sy n="7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17C3E4-834A-4FDE-8876-3ED4986C368E}" type="datetimeFigureOut">
              <a:rPr lang="en-US" smtClean="0"/>
              <a:t>6/28/2017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5D16B-934A-4DDA-AA9D-F9317AC24A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922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161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08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5978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066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108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25D16B-934A-4DDA-AA9D-F9317AC24A5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429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none" baseline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none">
                <a:solidFill>
                  <a:schemeClr val="bg1"/>
                </a:solidFill>
                <a:latin typeface="Arial Narrow" panose="020B0606020202030204" pitchFamily="34" charset="0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 smtClean="0"/>
              <a:t>Textmasterformat</a:t>
            </a:r>
            <a:br>
              <a:rPr lang="de-DE" dirty="0" smtClean="0"/>
            </a:br>
            <a:r>
              <a:rPr lang="de-DE" dirty="0" smtClean="0"/>
              <a:t>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1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40860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 smtClean="0"/>
              <a:t>Textmasterformat</a:t>
            </a:r>
            <a:br>
              <a:rPr lang="de-DE" dirty="0" smtClean="0"/>
            </a:br>
            <a:r>
              <a:rPr lang="de-DE" dirty="0" smtClean="0"/>
              <a:t>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1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none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03905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479376" y="1280513"/>
            <a:ext cx="11233248" cy="307777"/>
          </a:xfrm>
          <a:ln>
            <a:noFill/>
          </a:ln>
        </p:spPr>
        <p:txBody>
          <a:bodyPr wrap="square">
            <a:spAutoFit/>
          </a:bodyPr>
          <a:lstStyle>
            <a:lvl1pPr marL="228600" indent="-228600">
              <a:spcAft>
                <a:spcPts val="1800"/>
              </a:spcAft>
              <a:buClrTx/>
              <a:buSzPct val="80000"/>
              <a:buFont typeface="Wingdings" panose="05000000000000000000" pitchFamily="2" charset="2"/>
              <a:buChar char="q"/>
              <a:tabLst>
                <a:tab pos="6637338" algn="r"/>
              </a:tabLst>
              <a:defRPr sz="2000"/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5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90676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7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11231197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1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878730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5460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294736" y="1268761"/>
            <a:ext cx="5412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81427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81427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19798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268760"/>
            <a:ext cx="5400000" cy="477924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5460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1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24560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268761"/>
            <a:ext cx="2628000" cy="2376264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268761"/>
            <a:ext cx="2628000" cy="2376264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814276"/>
            <a:ext cx="2628000" cy="2376264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814276"/>
            <a:ext cx="2628000" cy="2376264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11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5460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9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65937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336360" y="1268761"/>
            <a:ext cx="2363640" cy="800219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479376" y="1268760"/>
            <a:ext cx="8700624" cy="477924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46563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´Text +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240016" y="1268760"/>
            <a:ext cx="5459984" cy="467124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9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481427" y="1268761"/>
            <a:ext cx="5460624" cy="1661993"/>
          </a:xfrm>
        </p:spPr>
        <p:txBody>
          <a:bodyPr wrap="square"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2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85147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Grap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321000" y="1268760"/>
            <a:ext cx="5400600" cy="467124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79376" y="1268760"/>
            <a:ext cx="5400600" cy="467124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2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325075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ph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79376" y="1268760"/>
            <a:ext cx="8700624" cy="449124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480376" y="1268760"/>
            <a:ext cx="2232248" cy="10156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4114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2" y="5940001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39751"/>
            <a:ext cx="11252200" cy="1661993"/>
          </a:xfrm>
        </p:spPr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en-GB" dirty="0"/>
          </a:p>
        </p:txBody>
      </p:sp>
      <p:sp>
        <p:nvSpPr>
          <p:cNvPr id="7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9605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 Graph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479376" y="1268761"/>
            <a:ext cx="4416608" cy="2376264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768408" y="1268760"/>
            <a:ext cx="1931592" cy="10156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11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479376" y="3882994"/>
            <a:ext cx="4416608" cy="2376264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3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5135776" y="1268761"/>
            <a:ext cx="4416608" cy="2376264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4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5135776" y="3882994"/>
            <a:ext cx="4416608" cy="2376264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6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9638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408368" y="1268760"/>
            <a:ext cx="2291632" cy="10156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479378" y="1268760"/>
            <a:ext cx="8700621" cy="307777"/>
          </a:xfrm>
        </p:spPr>
        <p:txBody>
          <a:bodyPr/>
          <a:lstStyle/>
          <a:p>
            <a:r>
              <a:rPr lang="en-US" altLang="ja-JP" smtClean="0"/>
              <a:t>Click icon to add table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79376" y="445848"/>
            <a:ext cx="11242224" cy="443198"/>
          </a:xfrm>
        </p:spPr>
        <p:txBody>
          <a:bodyPr/>
          <a:lstStyle/>
          <a:p>
            <a:r>
              <a:rPr lang="ja-JP" altLang="en-US" dirty="0" smtClean="0"/>
              <a:t>マスター タイトルの書式設定</a:t>
            </a:r>
            <a:endParaRPr lang="en-US" dirty="0"/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44658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1"/>
            <a:ext cx="7920000" cy="1302234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41010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1"/>
            <a:ext cx="7920000" cy="1302234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067512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484762"/>
            <a:ext cx="5280000" cy="2769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8" name="Gerade Verbindung 7"/>
          <p:cNvCxnSpPr/>
          <p:nvPr userDrawn="1"/>
        </p:nvCxnSpPr>
        <p:spPr>
          <a:xfrm>
            <a:off x="1080000" y="1268760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55295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 + grey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</a:t>
            </a:r>
            <a:br>
              <a:rPr lang="de-DE" dirty="0"/>
            </a:br>
            <a:r>
              <a:rPr lang="de-DE" dirty="0"/>
              <a:t>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 baseline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5216270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grey +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</a:t>
            </a:r>
            <a:br>
              <a:rPr lang="de-DE" dirty="0"/>
            </a:br>
            <a:r>
              <a:rPr lang="de-DE" dirty="0"/>
              <a:t>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6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>
                <a:solidFill>
                  <a:srgbClr val="BFBEBE"/>
                </a:solidFill>
              </a:defRPr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8228967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376" y="-22588"/>
            <a:ext cx="8520000" cy="886397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295466"/>
          </a:xfrm>
          <a:ln>
            <a:noFill/>
          </a:ln>
        </p:spPr>
        <p:txBody>
          <a:bodyPr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6053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376" y="36717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7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1650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30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81427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0078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2554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11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5801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1080000" y="1800000"/>
            <a:ext cx="8100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0166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8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630880331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996863812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8100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331527288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5302000"/>
          </a:xfrm>
        </p:spPr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en-GB"/>
          </a:p>
        </p:txBody>
      </p:sp>
      <p:sp>
        <p:nvSpPr>
          <p:cNvPr id="5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999830162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522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108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522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695790233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1079997" y="1800000"/>
            <a:ext cx="8100000" cy="4248000"/>
          </a:xfrm>
        </p:spPr>
        <p:txBody>
          <a:bodyPr/>
          <a:lstStyle/>
          <a:p>
            <a:r>
              <a:rPr lang="en-US" altLang="ja-JP" smtClean="0"/>
              <a:t>Click icon to add table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cxnSp>
        <p:nvCxnSpPr>
          <p:cNvPr id="8" name="Gerade Verbindung 4"/>
          <p:cNvCxnSpPr/>
          <p:nvPr userDrawn="1"/>
        </p:nvCxnSpPr>
        <p:spPr>
          <a:xfrm>
            <a:off x="479376" y="992512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37956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blipFill>
            <a:blip r:embed="rId2"/>
            <a:stretch>
              <a:fillRect/>
            </a:stretch>
          </a:blip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674306011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  <p:sp>
        <p:nvSpPr>
          <p:cNvPr id="4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  <p:sp>
        <p:nvSpPr>
          <p:cNvPr id="7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661710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800000"/>
            <a:ext cx="5280000" cy="3323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8" name="Gerade Verbindung 7"/>
          <p:cNvCxnSpPr/>
          <p:nvPr/>
        </p:nvCxnSpPr>
        <p:spPr>
          <a:xfrm>
            <a:off x="1080000" y="1268760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"/>
          <p:cNvSpPr txBox="1"/>
          <p:nvPr/>
        </p:nvSpPr>
        <p:spPr>
          <a:xfrm>
            <a:off x="1080000" y="1483200"/>
            <a:ext cx="5088008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b="1" dirty="0">
                <a:solidFill>
                  <a:schemeClr val="bg1"/>
                </a:solidFill>
                <a:latin typeface="+mj-ea"/>
                <a:ea typeface="+mj-ea"/>
              </a:rPr>
              <a:t>BIG</a:t>
            </a:r>
            <a:r>
              <a:rPr kumimoji="1" lang="en-US" altLang="ja-JP" b="1" baseline="0" dirty="0">
                <a:solidFill>
                  <a:schemeClr val="bg1"/>
                </a:solidFill>
                <a:latin typeface="+mj-ea"/>
                <a:ea typeface="+mj-ea"/>
              </a:rPr>
              <a:t> IDEAS FOR EVERY SPACE</a:t>
            </a:r>
            <a:endParaRPr kumimoji="1" lang="ja-JP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Rechteck 5"/>
          <p:cNvSpPr/>
          <p:nvPr userDrawn="1"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10" name="Gerade Verbindung 7"/>
          <p:cNvCxnSpPr/>
          <p:nvPr userDrawn="1"/>
        </p:nvCxnSpPr>
        <p:spPr>
          <a:xfrm>
            <a:off x="1080000" y="1268760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6706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none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 smtClean="0"/>
              <a:t>Textmasterformat</a:t>
            </a:r>
            <a:br>
              <a:rPr lang="de-DE" dirty="0" smtClean="0"/>
            </a:br>
            <a:r>
              <a:rPr lang="de-DE" dirty="0" smtClean="0"/>
              <a:t>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1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none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85889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1"/>
            <a:ext cx="7920000" cy="1302234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766614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icture + grey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8000" y="0"/>
            <a:ext cx="11253600" cy="6156000"/>
          </a:xfrm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252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</a:t>
            </a:r>
            <a:br>
              <a:rPr lang="de-DE" dirty="0"/>
            </a:br>
            <a:r>
              <a:rPr lang="de-DE" dirty="0"/>
              <a:t>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rgbClr val="9D9D9D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pic>
        <p:nvPicPr>
          <p:cNvPr id="5" name="Bild 4" descr="Badge_grey.png" hidden="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4432" y="0"/>
            <a:ext cx="1419800" cy="1275442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3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 baseline="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7043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grey + ba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468000" y="0"/>
            <a:ext cx="11253600" cy="615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80000" y="-1"/>
            <a:ext cx="5040000" cy="2592000"/>
          </a:xfrm>
          <a:solidFill>
            <a:schemeClr val="tx2"/>
          </a:solidFill>
        </p:spPr>
        <p:txBody>
          <a:bodyPr lIns="252000" tIns="252000" rIns="180000" bIns="252000" anchor="b" anchorCtr="0"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de-DE" dirty="0"/>
              <a:t>Textmasterformat</a:t>
            </a:r>
            <a:br>
              <a:rPr lang="de-DE" dirty="0"/>
            </a:br>
            <a:r>
              <a:rPr lang="de-DE" dirty="0"/>
              <a:t>bearbeiten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9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040000" cy="609737"/>
          </a:xfrm>
          <a:solidFill>
            <a:schemeClr val="bg1"/>
          </a:solidFill>
        </p:spPr>
        <p:txBody>
          <a:bodyPr lIns="252000" tIns="180000" rIns="180000" bIns="180000" anchor="t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cap="all" baseline="0">
                <a:solidFill>
                  <a:schemeClr val="accent1"/>
                </a:solidFill>
                <a:latin typeface="+mj-lt"/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None/>
              <a:defRPr sz="1600" b="0" cap="none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6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986400" y="4881600"/>
            <a:ext cx="1418400" cy="1274400"/>
          </a:xfrm>
          <a:blipFill>
            <a:blip r:embed="rId2"/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800">
                <a:solidFill>
                  <a:srgbClr val="BFBEBE"/>
                </a:solidFill>
              </a:defRPr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54350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295466"/>
          </a:xfrm>
          <a:ln>
            <a:noFill/>
          </a:ln>
        </p:spPr>
        <p:txBody>
          <a:bodyPr>
            <a:spAutoFit/>
          </a:bodyPr>
          <a:lstStyle>
            <a:lvl1pPr marL="177800" indent="-177800">
              <a:spcAft>
                <a:spcPts val="18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tabLst>
                <a:tab pos="7177088" algn="r"/>
              </a:tabLst>
              <a:defRPr sz="1600"/>
            </a:lvl1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2151592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1080000" y="1800000"/>
            <a:ext cx="9000000" cy="1887696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defRPr sz="16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79683755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Text 2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Textplatzhalter 4"/>
          <p:cNvSpPr>
            <a:spLocks noGrp="1"/>
          </p:cNvSpPr>
          <p:nvPr>
            <p:ph type="body" sz="quarter" idx="15"/>
          </p:nvPr>
        </p:nvSpPr>
        <p:spPr>
          <a:xfrm>
            <a:off x="630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2936657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5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5400000" cy="4248000"/>
          </a:xfrm>
          <a:ln w="6350">
            <a:noFill/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47325871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1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6300000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6" name="Bildplatzhalter 3"/>
          <p:cNvSpPr>
            <a:spLocks noGrp="1"/>
          </p:cNvSpPr>
          <p:nvPr>
            <p:ph type="pic" sz="quarter" idx="16"/>
          </p:nvPr>
        </p:nvSpPr>
        <p:spPr>
          <a:xfrm>
            <a:off x="9072352" y="1800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7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300000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8" name="Bildplatzhalter 3"/>
          <p:cNvSpPr>
            <a:spLocks noGrp="1"/>
          </p:cNvSpPr>
          <p:nvPr>
            <p:ph type="pic" sz="quarter" idx="18"/>
          </p:nvPr>
        </p:nvSpPr>
        <p:spPr>
          <a:xfrm>
            <a:off x="9072352" y="3924000"/>
            <a:ext cx="2628000" cy="1980000"/>
          </a:xfrm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7684904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Picture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Bildplatzhalter 8"/>
          <p:cNvSpPr>
            <a:spLocks noGrp="1"/>
          </p:cNvSpPr>
          <p:nvPr>
            <p:ph type="pic" sz="quarter" idx="18"/>
          </p:nvPr>
        </p:nvSpPr>
        <p:spPr>
          <a:xfrm>
            <a:off x="1080000" y="1800000"/>
            <a:ext cx="8100000" cy="4248000"/>
          </a:xfrm>
        </p:spPr>
        <p:txBody>
          <a:bodyPr lIns="144000" tIns="144000">
            <a:no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96731598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080000" y="1800000"/>
            <a:ext cx="4860000" cy="1887696"/>
          </a:xfrm>
        </p:spPr>
        <p:txBody>
          <a:bodyPr>
            <a:spAutoFit/>
          </a:bodyPr>
          <a:lstStyle/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  <a:p>
            <a:pPr lvl="3"/>
            <a:r>
              <a:rPr lang="en-US" altLang="ja-JP" smtClean="0"/>
              <a:t>Fourth level</a:t>
            </a:r>
          </a:p>
          <a:p>
            <a:pPr lvl="4"/>
            <a:r>
              <a:rPr lang="en-US" altLang="ja-JP" smtClean="0"/>
              <a:t>Fifth level</a:t>
            </a:r>
            <a:endParaRPr lang="en-US" dirty="0"/>
          </a:p>
        </p:txBody>
      </p:sp>
      <p:sp>
        <p:nvSpPr>
          <p:cNvPr id="8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75759831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Diagrammplatzhalter 8"/>
          <p:cNvSpPr>
            <a:spLocks noGrp="1"/>
          </p:cNvSpPr>
          <p:nvPr>
            <p:ph type="chart" sz="quarter" idx="17"/>
          </p:nvPr>
        </p:nvSpPr>
        <p:spPr>
          <a:xfrm>
            <a:off x="6480000" y="1692000"/>
            <a:ext cx="5220000" cy="424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2831121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hart larg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8100000" cy="4068000"/>
          </a:xfrm>
          <a:noFill/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33676444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 large + ca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20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468000" y="5940000"/>
            <a:ext cx="11244575" cy="234744"/>
          </a:xfrm>
        </p:spPr>
        <p:txBody>
          <a:bodyPr>
            <a:noAutofit/>
          </a:bodyPr>
          <a:lstStyle>
            <a:lvl1pPr>
              <a:defRPr sz="1400"/>
            </a:lvl1pPr>
            <a:lvl2pPr marL="0" indent="0">
              <a:buNone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quarter" idx="18"/>
          </p:nvPr>
        </p:nvSpPr>
        <p:spPr>
          <a:xfrm>
            <a:off x="460375" y="540000"/>
            <a:ext cx="11261725" cy="5302000"/>
          </a:xfrm>
        </p:spPr>
        <p:txBody>
          <a:bodyPr/>
          <a:lstStyle/>
          <a:p>
            <a:pPr lvl="0"/>
            <a:r>
              <a:rPr kumimoji="1" lang="en-US" altLang="ja-JP" smtClean="0"/>
              <a:t>Click to edit Master text styles</a:t>
            </a:r>
          </a:p>
          <a:p>
            <a:pPr lvl="1"/>
            <a:r>
              <a:rPr kumimoji="1" lang="en-US" altLang="ja-JP" smtClean="0"/>
              <a:t>Second level</a:t>
            </a:r>
          </a:p>
          <a:p>
            <a:pPr lvl="2"/>
            <a:r>
              <a:rPr kumimoji="1" lang="en-US" altLang="ja-JP" smtClean="0"/>
              <a:t>Third level</a:t>
            </a:r>
          </a:p>
          <a:p>
            <a:pPr lvl="3"/>
            <a:r>
              <a:rPr kumimoji="1" lang="en-US" altLang="ja-JP" smtClean="0"/>
              <a:t>Fourth level</a:t>
            </a:r>
          </a:p>
          <a:p>
            <a:pPr lvl="4"/>
            <a:r>
              <a:rPr kumimoji="1" lang="en-US" altLang="ja-JP" smtClean="0"/>
              <a:t>Fifth level</a:t>
            </a:r>
            <a:endParaRPr kumimoji="1" lang="en-GB"/>
          </a:p>
        </p:txBody>
      </p:sp>
      <p:sp>
        <p:nvSpPr>
          <p:cNvPr id="5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408634758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 Charts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iagrammplatzhalter 8"/>
          <p:cNvSpPr>
            <a:spLocks noGrp="1"/>
          </p:cNvSpPr>
          <p:nvPr>
            <p:ph type="chart" sz="quarter" idx="16"/>
          </p:nvPr>
        </p:nvSpPr>
        <p:spPr>
          <a:xfrm>
            <a:off x="108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4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5" name="Diagrammplatzhalter 8"/>
          <p:cNvSpPr>
            <a:spLocks noGrp="1"/>
          </p:cNvSpPr>
          <p:nvPr>
            <p:ph type="chart" sz="quarter" idx="18"/>
          </p:nvPr>
        </p:nvSpPr>
        <p:spPr>
          <a:xfrm>
            <a:off x="5220000" y="1692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6" name="Diagrammplatzhalter 8"/>
          <p:cNvSpPr>
            <a:spLocks noGrp="1"/>
          </p:cNvSpPr>
          <p:nvPr>
            <p:ph type="chart" sz="quarter" idx="19"/>
          </p:nvPr>
        </p:nvSpPr>
        <p:spPr>
          <a:xfrm>
            <a:off x="108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27" name="Diagrammplatzhalter 8"/>
          <p:cNvSpPr>
            <a:spLocks noGrp="1"/>
          </p:cNvSpPr>
          <p:nvPr>
            <p:ph type="chart" sz="quarter" idx="20"/>
          </p:nvPr>
        </p:nvSpPr>
        <p:spPr>
          <a:xfrm>
            <a:off x="5220000" y="3996000"/>
            <a:ext cx="3960000" cy="2160000"/>
          </a:xfrm>
          <a:noFill/>
          <a:ln w="6350">
            <a:solidFill>
              <a:schemeClr val="bg2">
                <a:lumMod val="90000"/>
              </a:schemeClr>
            </a:solidFill>
          </a:ln>
        </p:spPr>
        <p:txBody>
          <a:bodyPr lIns="144000" tIns="144000" rIns="144000" bIns="144000">
            <a:noAutofit/>
          </a:bodyPr>
          <a:lstStyle/>
          <a:p>
            <a:r>
              <a:rPr lang="en-US" altLang="ja-JP" smtClean="0"/>
              <a:t>Click icon to add chart</a:t>
            </a:r>
            <a:endParaRPr lang="en-US" dirty="0"/>
          </a:p>
        </p:txBody>
      </p:sp>
      <p:sp>
        <p:nvSpPr>
          <p:cNvPr id="10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02562760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Tabl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80000" y="936000"/>
            <a:ext cx="9000000" cy="443198"/>
          </a:xfrm>
        </p:spPr>
        <p:txBody>
          <a:bodyPr/>
          <a:lstStyle/>
          <a:p>
            <a:r>
              <a:rPr lang="en-US" altLang="ja-JP" smtClean="0"/>
              <a:t>Click to edit Master title style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cxnSp>
        <p:nvCxnSpPr>
          <p:cNvPr id="5" name="Gerade Verbindung 4"/>
          <p:cNvCxnSpPr/>
          <p:nvPr/>
        </p:nvCxnSpPr>
        <p:spPr>
          <a:xfrm>
            <a:off x="1080000" y="1512000"/>
            <a:ext cx="2400000" cy="0"/>
          </a:xfrm>
          <a:prstGeom prst="line">
            <a:avLst/>
          </a:prstGeom>
          <a:ln w="38100">
            <a:solidFill>
              <a:schemeClr val="bg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6"/>
          <p:cNvSpPr>
            <a:spLocks noGrp="1"/>
          </p:cNvSpPr>
          <p:nvPr>
            <p:ph type="body" sz="quarter" idx="17"/>
          </p:nvPr>
        </p:nvSpPr>
        <p:spPr>
          <a:xfrm>
            <a:off x="9972000" y="2340000"/>
            <a:ext cx="1728000" cy="123931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  <a:p>
            <a:pPr lvl="2"/>
            <a:r>
              <a:rPr lang="en-US" altLang="ja-JP" smtClean="0"/>
              <a:t>Third level</a:t>
            </a:r>
          </a:p>
        </p:txBody>
      </p:sp>
      <p:sp>
        <p:nvSpPr>
          <p:cNvPr id="20" name="Tabellenplatzhalter 8"/>
          <p:cNvSpPr>
            <a:spLocks noGrp="1"/>
          </p:cNvSpPr>
          <p:nvPr>
            <p:ph type="tbl" sz="quarter" idx="18"/>
          </p:nvPr>
        </p:nvSpPr>
        <p:spPr>
          <a:xfrm>
            <a:off x="1079997" y="1800000"/>
            <a:ext cx="8100000" cy="4248000"/>
          </a:xfrm>
        </p:spPr>
        <p:txBody>
          <a:bodyPr/>
          <a:lstStyle/>
          <a:p>
            <a:r>
              <a:rPr lang="en-US" altLang="ja-JP" smtClean="0"/>
              <a:t>Click icon to add table</a:t>
            </a:r>
            <a:endParaRPr lang="en-US" dirty="0"/>
          </a:p>
        </p:txBody>
      </p:sp>
      <p:sp>
        <p:nvSpPr>
          <p:cNvPr id="7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29064361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5"/>
          </p:nvPr>
        </p:nvSpPr>
        <p:spPr>
          <a:xfrm>
            <a:off x="468000" y="540000"/>
            <a:ext cx="11253600" cy="5616000"/>
          </a:xfrm>
          <a:blipFill>
            <a:blip r:embed="rId2"/>
            <a:stretch>
              <a:fillRect/>
            </a:stretch>
          </a:blipFill>
          <a:ln w="6350">
            <a:solidFill>
              <a:schemeClr val="tx1">
                <a:lumMod val="20000"/>
                <a:lumOff val="80000"/>
              </a:schemeClr>
            </a:solidFill>
          </a:ln>
        </p:spPr>
        <p:txBody>
          <a:bodyPr lIns="144000" tIns="144000">
            <a:normAutofit/>
          </a:bodyPr>
          <a:lstStyle>
            <a:lvl1pPr>
              <a:defRPr sz="1000"/>
            </a:lvl1pPr>
          </a:lstStyle>
          <a:p>
            <a:r>
              <a:rPr lang="en-US" altLang="ja-JP" smtClean="0"/>
              <a:t>Click icon to add picture</a:t>
            </a:r>
            <a:endParaRPr lang="en-US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wrap="square"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  <p:sp>
        <p:nvSpPr>
          <p:cNvPr id="6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172067178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79376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Textplatzhalter 11"/>
          <p:cNvSpPr>
            <a:spLocks noGrp="1"/>
          </p:cNvSpPr>
          <p:nvPr>
            <p:ph type="body" sz="quarter" idx="11"/>
          </p:nvPr>
        </p:nvSpPr>
        <p:spPr>
          <a:xfrm>
            <a:off x="468000" y="1080000"/>
            <a:ext cx="7920000" cy="1500237"/>
          </a:xfrm>
          <a:solidFill>
            <a:schemeClr val="tx2"/>
          </a:solidFill>
        </p:spPr>
        <p:txBody>
          <a:bodyPr lIns="252000" tIns="180000" rIns="180000" bIns="180000">
            <a:spAutoFit/>
          </a:bodyPr>
          <a:lstStyle>
            <a:lvl1pPr>
              <a:defRPr sz="3600" b="1" cap="all" baseline="0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 sz="2000" b="1" cap="all">
                <a:solidFill>
                  <a:schemeClr val="bg1"/>
                </a:solidFill>
                <a:latin typeface="+mj-lt"/>
              </a:defRPr>
            </a:lvl2pPr>
            <a:lvl3pPr>
              <a:defRPr b="1">
                <a:solidFill>
                  <a:schemeClr val="bg1"/>
                </a:solidFill>
                <a:latin typeface="+mj-lt"/>
              </a:defRPr>
            </a:lvl3pPr>
            <a:lvl4pPr>
              <a:defRPr>
                <a:solidFill>
                  <a:schemeClr val="bg1"/>
                </a:solidFill>
                <a:latin typeface="+mj-lt"/>
              </a:defRPr>
            </a:lvl4pPr>
            <a:lvl5pPr>
              <a:defRPr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  <a:p>
            <a:pPr lvl="1"/>
            <a:r>
              <a:rPr lang="en-US" altLang="ja-JP" smtClean="0"/>
              <a:t>Second level</a:t>
            </a:r>
          </a:p>
        </p:txBody>
      </p:sp>
      <p:sp>
        <p:nvSpPr>
          <p:cNvPr id="4" name="Foliennummernplatzhalter 5"/>
          <p:cNvSpPr txBox="1">
            <a:spLocks/>
          </p:cNvSpPr>
          <p:nvPr/>
        </p:nvSpPr>
        <p:spPr>
          <a:xfrm>
            <a:off x="7966800" y="6516000"/>
            <a:ext cx="1647887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de-DE"/>
            </a:defPPr>
            <a:lvl1pPr marL="0" algn="r" defTabSz="914400" rtl="0" eaLnBrk="1" latinLnBrk="0" hangingPunct="1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/>
            </a:pPr>
            <a:r>
              <a:rPr lang="en-US" sz="1050" b="1" i="0" u="none" strike="noStrike" kern="1200" baseline="0" dirty="0">
                <a:solidFill>
                  <a:schemeClr val="tx1">
                    <a:lumMod val="60000"/>
                    <a:lumOff val="40000"/>
                  </a:schemeClr>
                </a:solidFill>
                <a:latin typeface="+mj-lt"/>
                <a:ea typeface="+mn-ea"/>
                <a:cs typeface="+mn-cs"/>
              </a:rPr>
              <a:t>BIG IDEAS FOR EVERY SPACE</a:t>
            </a:r>
          </a:p>
        </p:txBody>
      </p:sp>
    </p:spTree>
    <p:extLst>
      <p:ext uri="{BB962C8B-B14F-4D97-AF65-F5344CB8AC3E}">
        <p14:creationId xmlns:p14="http://schemas.microsoft.com/office/powerpoint/2010/main" val="26769184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468000" y="540000"/>
            <a:ext cx="11253600" cy="561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1080000" y="1800000"/>
            <a:ext cx="5280000" cy="332399"/>
          </a:xfrm>
        </p:spPr>
        <p:txBody>
          <a:bodyPr wrap="square">
            <a:spAutoFit/>
          </a:bodyPr>
          <a:lstStyle>
            <a:lvl1pPr>
              <a:spcAft>
                <a:spcPts val="0"/>
              </a:spcAft>
              <a:defRPr sz="1800" b="1" cap="none" baseline="0">
                <a:solidFill>
                  <a:schemeClr val="bg1"/>
                </a:solidFill>
                <a:latin typeface="+mj-lt"/>
              </a:defRPr>
            </a:lvl1pPr>
            <a:lvl2pPr>
              <a:defRPr sz="1100" b="1" cap="all" baseline="0">
                <a:latin typeface="+mj-lt"/>
              </a:defRPr>
            </a:lvl2pPr>
            <a:lvl3pPr>
              <a:defRPr sz="1100" b="1" cap="all" baseline="0">
                <a:latin typeface="+mj-lt"/>
              </a:defRPr>
            </a:lvl3pPr>
            <a:lvl4pPr>
              <a:defRPr sz="1100" b="1" cap="all" baseline="0">
                <a:latin typeface="+mj-lt"/>
              </a:defRPr>
            </a:lvl4pPr>
            <a:lvl5pPr>
              <a:defRPr sz="1100" b="1" cap="all" baseline="0">
                <a:latin typeface="+mj-lt"/>
              </a:defRPr>
            </a:lvl5pPr>
          </a:lstStyle>
          <a:p>
            <a:pPr lvl="0"/>
            <a:r>
              <a:rPr lang="en-US" altLang="ja-JP" smtClean="0"/>
              <a:t>Click to edit Master text styles</a:t>
            </a:r>
          </a:p>
        </p:txBody>
      </p:sp>
      <p:cxnSp>
        <p:nvCxnSpPr>
          <p:cNvPr id="8" name="Gerade Verbindung 7"/>
          <p:cNvCxnSpPr/>
          <p:nvPr/>
        </p:nvCxnSpPr>
        <p:spPr>
          <a:xfrm>
            <a:off x="1080000" y="1268760"/>
            <a:ext cx="2400000" cy="0"/>
          </a:xfrm>
          <a:prstGeom prst="line">
            <a:avLst/>
          </a:prstGeom>
          <a:ln w="38100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"/>
          <p:cNvSpPr txBox="1"/>
          <p:nvPr/>
        </p:nvSpPr>
        <p:spPr>
          <a:xfrm>
            <a:off x="1080000" y="1483200"/>
            <a:ext cx="5088008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b="1" dirty="0">
                <a:solidFill>
                  <a:schemeClr val="bg1"/>
                </a:solidFill>
                <a:latin typeface="+mj-ea"/>
                <a:ea typeface="+mj-ea"/>
              </a:rPr>
              <a:t>BIG</a:t>
            </a:r>
            <a:r>
              <a:rPr kumimoji="1" lang="en-US" altLang="ja-JP" b="1" baseline="0" dirty="0">
                <a:solidFill>
                  <a:schemeClr val="bg1"/>
                </a:solidFill>
                <a:latin typeface="+mj-ea"/>
                <a:ea typeface="+mj-ea"/>
              </a:rPr>
              <a:t> IDEAS FOR EVERY SPACE</a:t>
            </a:r>
            <a:endParaRPr kumimoji="1" lang="ja-JP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19994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gi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0.xml"/><Relationship Id="rId21" Type="http://schemas.openxmlformats.org/officeDocument/2006/relationships/image" Target="../media/image1.gif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6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1.gif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79376" y="445076"/>
            <a:ext cx="11242224" cy="4431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de-DE" dirty="0" smtClean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79376" y="1309075"/>
            <a:ext cx="11240598" cy="166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en-US" dirty="0"/>
          </a:p>
        </p:txBody>
      </p:sp>
      <p:sp>
        <p:nvSpPr>
          <p:cNvPr id="13" name="Textfeld 7"/>
          <p:cNvSpPr txBox="1"/>
          <p:nvPr/>
        </p:nvSpPr>
        <p:spPr>
          <a:xfrm>
            <a:off x="468002" y="6542446"/>
            <a:ext cx="2792431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i="0" u="none" strike="noStrike" kern="1200" baseline="0" dirty="0" smtClean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2016 Renesas Design Vietnam Co., Ltd.. All rights reserved. </a:t>
            </a:r>
            <a:endParaRPr lang="en-US" sz="9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/>
          <p:cNvSpPr/>
          <p:nvPr/>
        </p:nvSpPr>
        <p:spPr>
          <a:xfrm>
            <a:off x="3412772" y="650389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 dirty="0">
              <a:latin typeface="+mj-lt"/>
            </a:endParaRPr>
          </a:p>
        </p:txBody>
      </p:sp>
      <p:pic>
        <p:nvPicPr>
          <p:cNvPr id="10" name="図 9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226" y="6452761"/>
            <a:ext cx="1773748" cy="302481"/>
          </a:xfrm>
          <a:prstGeom prst="rect">
            <a:avLst/>
          </a:prstGeom>
        </p:spPr>
      </p:pic>
      <p:sp>
        <p:nvSpPr>
          <p:cNvPr id="11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5689395" y="6523209"/>
            <a:ext cx="813211" cy="23203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47212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9" r:id="rId9"/>
    <p:sldLayoutId id="2147483761" r:id="rId10"/>
    <p:sldLayoutId id="2147483762" r:id="rId11"/>
    <p:sldLayoutId id="2147483770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7013" indent="-2270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SzPct val="80000"/>
        <a:buFont typeface="Wingdings" panose="05000000000000000000" pitchFamily="2" charset="2"/>
        <a:buChar char="q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Courier New" panose="02070309020205020404" pitchFamily="49" charset="0"/>
        <a:buChar char="o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80000" y="492801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80000" y="1800000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45419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2017 Renesas Electronics Corporation. All rights reserved. </a:t>
            </a:r>
            <a:endParaRPr lang="en-US" sz="8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図 7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852" y="6440061"/>
            <a:ext cx="1773748" cy="30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80000" y="492801"/>
            <a:ext cx="8520000" cy="886397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80000" y="1800000"/>
            <a:ext cx="9120000" cy="18876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760000" y="6509924"/>
            <a:ext cx="672075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US" sz="1050" b="1" i="0" u="none" strike="noStrike" kern="1200" baseline="0" smtClean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l"/>
            <a:r>
              <a:rPr lang="de-DE" dirty="0"/>
              <a:t>Page </a:t>
            </a:r>
            <a:fld id="{3FD030EF-7044-4946-962A-5D7D09BD1B34}" type="slidenum">
              <a:rPr lang="de-DE" smtClean="0"/>
              <a:pPr algn="l"/>
              <a:t>‹#›</a:t>
            </a:fld>
            <a:endParaRPr lang="de-DE" dirty="0"/>
          </a:p>
        </p:txBody>
      </p:sp>
      <p:sp>
        <p:nvSpPr>
          <p:cNvPr id="13" name="Textfeld 7"/>
          <p:cNvSpPr txBox="1"/>
          <p:nvPr/>
        </p:nvSpPr>
        <p:spPr>
          <a:xfrm>
            <a:off x="468000" y="6544800"/>
            <a:ext cx="245419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i="0" u="none" strike="noStrike" kern="120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© 2017 Renesas Electronics Corporation. All rights reserved. </a:t>
            </a:r>
            <a:endParaRPr lang="en-US" sz="800" dirty="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6" name="Gerade Verbindung 15"/>
          <p:cNvCxnSpPr/>
          <p:nvPr/>
        </p:nvCxnSpPr>
        <p:spPr>
          <a:xfrm>
            <a:off x="468000" y="6336000"/>
            <a:ext cx="112536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図 7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852" y="6440061"/>
            <a:ext cx="1773748" cy="301308"/>
          </a:xfrm>
          <a:prstGeom prst="rect">
            <a:avLst/>
          </a:prstGeom>
        </p:spPr>
      </p:pic>
      <p:sp>
        <p:nvSpPr>
          <p:cNvPr id="10" name="Rechteck 9"/>
          <p:cNvSpPr/>
          <p:nvPr/>
        </p:nvSpPr>
        <p:spPr>
          <a:xfrm>
            <a:off x="2999656" y="6489860"/>
            <a:ext cx="1531100" cy="2017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 anchorCtr="0"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b="1" i="0" u="none" strike="noStrik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RENESAS CONFIDENTIAL</a:t>
            </a:r>
            <a:endParaRPr lang="en-US" sz="105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46181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7780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Clr>
          <a:schemeClr val="tx2"/>
        </a:buClr>
        <a:buFont typeface="Wingdings" panose="05000000000000000000" pitchFamily="2" charset="2"/>
        <a:buChar char="§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39750" indent="-184150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800"/>
        </a:spcAft>
        <a:buFont typeface="Symbol" panose="05050102010706020507" pitchFamily="18" charset="2"/>
        <a:buChar char="-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90">
          <p15:clr>
            <a:srgbClr val="F26B43"/>
          </p15:clr>
        </p15:guide>
        <p15:guide id="2" pos="676">
          <p15:clr>
            <a:srgbClr val="F26B43"/>
          </p15:clr>
        </p15:guide>
        <p15:guide id="3" pos="3841">
          <p15:clr>
            <a:srgbClr val="F26B43"/>
          </p15:clr>
        </p15:guide>
        <p15:guide id="4" pos="7378">
          <p15:clr>
            <a:srgbClr val="F26B43"/>
          </p15:clr>
        </p15:guide>
        <p15:guide id="5" pos="628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-1"/>
            <a:ext cx="11277600" cy="6172201"/>
          </a:xfrm>
          <a:prstGeom prst="rect">
            <a:avLst/>
          </a:prstGeom>
        </p:spPr>
      </p:pic>
      <p:sp>
        <p:nvSpPr>
          <p:cNvPr id="2" name="Textplatzhalter 1"/>
          <p:cNvSpPr>
            <a:spLocks noGrp="1"/>
          </p:cNvSpPr>
          <p:nvPr>
            <p:ph type="body" sz="quarter" idx="11"/>
          </p:nvPr>
        </p:nvSpPr>
        <p:spPr>
          <a:xfrm>
            <a:off x="1080000" y="-1"/>
            <a:ext cx="5778000" cy="2592000"/>
          </a:xfrm>
        </p:spPr>
        <p:txBody>
          <a:bodyPr/>
          <a:lstStyle/>
          <a:p>
            <a:r>
              <a:rPr lang="en-US" altLang="ja-JP" dirty="0"/>
              <a:t>25G MENTOR-MENTEE</a:t>
            </a:r>
          </a:p>
          <a:p>
            <a:r>
              <a:rPr lang="en-US" altLang="ja-JP" dirty="0"/>
              <a:t>TRAINING PLAN</a:t>
            </a:r>
          </a:p>
          <a:p>
            <a:pPr lvl="1"/>
            <a:r>
              <a:rPr lang="en-US" altLang="ja-JP" dirty="0" smtClean="0"/>
              <a:t>June </a:t>
            </a:r>
            <a:r>
              <a:rPr lang="en-US" altLang="ja-JP" dirty="0"/>
              <a:t>2017 – </a:t>
            </a:r>
            <a:r>
              <a:rPr lang="en-US" altLang="ja-JP" dirty="0" smtClean="0"/>
              <a:t>June 2019</a:t>
            </a:r>
            <a:endParaRPr lang="en-US" altLang="ja-JP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1080000" y="2700000"/>
            <a:ext cx="5778000" cy="1840843"/>
          </a:xfrm>
        </p:spPr>
        <p:txBody>
          <a:bodyPr/>
          <a:lstStyle/>
          <a:p>
            <a:r>
              <a:rPr lang="en-US" dirty="0"/>
              <a:t>Date: </a:t>
            </a:r>
            <a:r>
              <a:rPr lang="en-US" dirty="0" smtClean="0"/>
              <a:t>June </a:t>
            </a:r>
            <a:r>
              <a:rPr lang="en-US" dirty="0"/>
              <a:t>28, 2017</a:t>
            </a:r>
          </a:p>
          <a:p>
            <a:r>
              <a:rPr lang="en-US" dirty="0"/>
              <a:t>Mentee: </a:t>
            </a:r>
            <a:r>
              <a:rPr lang="en-US" dirty="0" err="1" smtClean="0"/>
              <a:t>Nhi</a:t>
            </a:r>
            <a:r>
              <a:rPr lang="en-US" dirty="0" smtClean="0"/>
              <a:t> Cao (1991)</a:t>
            </a:r>
            <a:endParaRPr lang="en-US" dirty="0"/>
          </a:p>
          <a:p>
            <a:r>
              <a:rPr lang="en-US" dirty="0"/>
              <a:t>Mentor:  </a:t>
            </a:r>
            <a:r>
              <a:rPr lang="en-US" dirty="0" smtClean="0"/>
              <a:t>Thuy Tran (0505)</a:t>
            </a:r>
            <a:endParaRPr lang="en-US" dirty="0"/>
          </a:p>
          <a:p>
            <a:r>
              <a:rPr lang="en-US" dirty="0"/>
              <a:t>Software Tool Solution </a:t>
            </a:r>
            <a:r>
              <a:rPr lang="en-US" dirty="0" smtClean="0"/>
              <a:t>1 </a:t>
            </a:r>
            <a:r>
              <a:rPr lang="en-US" dirty="0"/>
              <a:t>Group</a:t>
            </a:r>
          </a:p>
          <a:p>
            <a:r>
              <a:rPr lang="en-US" dirty="0"/>
              <a:t>Software Engineer Division</a:t>
            </a:r>
          </a:p>
          <a:p>
            <a:r>
              <a:rPr lang="en-US" dirty="0" err="1"/>
              <a:t>Renesas</a:t>
            </a:r>
            <a:r>
              <a:rPr lang="en-US" dirty="0"/>
              <a:t> Design Vietnam Co., Ltd.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0" y="4898026"/>
            <a:ext cx="1414395" cy="1274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97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9376" y="420611"/>
            <a:ext cx="8520000" cy="443198"/>
          </a:xfrm>
        </p:spPr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>
                <a:latin typeface="+mn-lt"/>
              </a:rPr>
              <a:t>Page </a:t>
            </a:r>
            <a:fld id="{3FD030EF-7044-4946-962A-5D7D09BD1B34}" type="slidenum">
              <a:rPr lang="de-DE" smtClean="0">
                <a:latin typeface="+mn-lt"/>
              </a:rPr>
              <a:pPr/>
              <a:t>2</a:t>
            </a:fld>
            <a:endParaRPr lang="de-DE" dirty="0">
              <a:latin typeface="+mn-lt"/>
            </a:endParaRPr>
          </a:p>
        </p:txBody>
      </p:sp>
      <p:sp>
        <p:nvSpPr>
          <p:cNvPr id="4" name="Inhaltsplatzhalter 3"/>
          <p:cNvSpPr>
            <a:spLocks noGrp="1"/>
          </p:cNvSpPr>
          <p:nvPr>
            <p:ph idx="1"/>
          </p:nvPr>
        </p:nvSpPr>
        <p:spPr>
          <a:xfrm>
            <a:off x="479376" y="1280513"/>
            <a:ext cx="11233248" cy="2462213"/>
          </a:xfrm>
        </p:spPr>
        <p:txBody>
          <a:bodyPr/>
          <a:lstStyle/>
          <a:p>
            <a:r>
              <a:rPr lang="de-DE" dirty="0"/>
              <a:t>Training T</a:t>
            </a:r>
            <a:r>
              <a:rPr lang="de-DE" dirty="0" smtClean="0"/>
              <a:t>arget	Page 03</a:t>
            </a:r>
          </a:p>
          <a:p>
            <a:r>
              <a:rPr lang="de-DE" dirty="0"/>
              <a:t>Current </a:t>
            </a:r>
            <a:r>
              <a:rPr lang="de-DE" dirty="0" smtClean="0"/>
              <a:t>Status	Page 05</a:t>
            </a:r>
          </a:p>
          <a:p>
            <a:r>
              <a:rPr lang="de-DE" dirty="0"/>
              <a:t>Gaps Analysis and Solution</a:t>
            </a:r>
            <a:r>
              <a:rPr lang="de-DE" dirty="0" smtClean="0"/>
              <a:t>	Page 06</a:t>
            </a:r>
          </a:p>
          <a:p>
            <a:r>
              <a:rPr lang="de-DE" dirty="0"/>
              <a:t>Training </a:t>
            </a:r>
            <a:r>
              <a:rPr lang="de-DE" dirty="0" smtClean="0"/>
              <a:t>Plan                                                                                         Page 08</a:t>
            </a:r>
          </a:p>
          <a:p>
            <a:r>
              <a:rPr lang="de-DE" dirty="0"/>
              <a:t>Commitment </a:t>
            </a:r>
            <a:r>
              <a:rPr lang="de-DE" dirty="0" smtClean="0"/>
              <a:t>	 Page 09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250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Target(1/2)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>
          <a:xfrm>
            <a:off x="816476" y="1239522"/>
            <a:ext cx="11231197" cy="693523"/>
          </a:xfrm>
        </p:spPr>
        <p:txBody>
          <a:bodyPr/>
          <a:lstStyle/>
          <a:p>
            <a:r>
              <a:rPr lang="en-US" altLang="en-US" b="1" dirty="0">
                <a:solidFill>
                  <a:srgbClr val="000000"/>
                </a:solidFill>
              </a:rPr>
              <a:t>Target: Achieve role </a:t>
            </a:r>
            <a:r>
              <a:rPr lang="en-US" altLang="en-US" b="1" dirty="0" smtClean="0">
                <a:solidFill>
                  <a:srgbClr val="FF0000"/>
                </a:solidFill>
              </a:rPr>
              <a:t>Level </a:t>
            </a:r>
            <a:r>
              <a:rPr lang="en-US" altLang="en-US" b="1" dirty="0">
                <a:solidFill>
                  <a:srgbClr val="FF0000"/>
                </a:solidFill>
              </a:rPr>
              <a:t>2</a:t>
            </a:r>
            <a:r>
              <a:rPr lang="en-US" altLang="en-US" b="1" dirty="0">
                <a:solidFill>
                  <a:srgbClr val="000000"/>
                </a:solidFill>
              </a:rPr>
              <a:t> of Engineer for test validation (software) by </a:t>
            </a:r>
            <a:r>
              <a:rPr lang="en-US" altLang="en-US" b="1" dirty="0" smtClean="0">
                <a:solidFill>
                  <a:srgbClr val="000000"/>
                </a:solidFill>
              </a:rPr>
              <a:t>March, 2019</a:t>
            </a:r>
            <a:endParaRPr lang="en-US" altLang="en-US" b="1" dirty="0">
              <a:solidFill>
                <a:srgbClr val="000000"/>
              </a:solidFill>
            </a:endParaRPr>
          </a:p>
          <a:p>
            <a:r>
              <a:rPr lang="en-US" altLang="en-US" b="1" dirty="0">
                <a:solidFill>
                  <a:srgbClr val="000000"/>
                </a:solidFill>
                <a:ea typeface="Microsoft YaHei" panose="020B0503020204020204" pitchFamily="34" charset="-122"/>
              </a:rPr>
              <a:t>   </a:t>
            </a:r>
            <a:r>
              <a:rPr lang="en-US" altLang="en-US" b="1" dirty="0" smtClean="0">
                <a:solidFill>
                  <a:srgbClr val="000000"/>
                </a:solidFill>
                <a:ea typeface="Microsoft YaHei" panose="020B0503020204020204" pitchFamily="34" charset="-122"/>
              </a:rPr>
              <a:t>         </a:t>
            </a:r>
            <a:r>
              <a:rPr lang="en-US" altLang="en-US" b="1" dirty="0">
                <a:solidFill>
                  <a:srgbClr val="000000"/>
                </a:solidFill>
                <a:ea typeface="Microsoft YaHei" panose="020B0503020204020204" pitchFamily="34" charset="-122"/>
              </a:rPr>
              <a:t>Ability to do e2 studio verification without </a:t>
            </a:r>
            <a:r>
              <a:rPr lang="en-US" altLang="en-US" b="1" dirty="0" smtClean="0">
                <a:solidFill>
                  <a:srgbClr val="000000"/>
                </a:solidFill>
                <a:ea typeface="Microsoft YaHei" panose="020B0503020204020204" pitchFamily="34" charset="-122"/>
              </a:rPr>
              <a:t>support, </a:t>
            </a:r>
            <a:r>
              <a:rPr lang="en-US" altLang="en-US" b="1" dirty="0">
                <a:solidFill>
                  <a:srgbClr val="000000"/>
                </a:solidFill>
                <a:ea typeface="Microsoft YaHei" panose="020B0503020204020204" pitchFamily="34" charset="-122"/>
              </a:rPr>
              <a:t>if it is within certain degree of </a:t>
            </a:r>
            <a:r>
              <a:rPr lang="en-US" altLang="en-US" b="1" dirty="0" smtClean="0">
                <a:solidFill>
                  <a:srgbClr val="000000"/>
                </a:solidFill>
                <a:ea typeface="Microsoft YaHei" panose="020B0503020204020204" pitchFamily="34" charset="-122"/>
              </a:rPr>
              <a:t>difficulty</a:t>
            </a:r>
            <a:endParaRPr lang="en-US" altLang="en-US" b="1" dirty="0">
              <a:solidFill>
                <a:srgbClr val="000000"/>
              </a:solidFill>
              <a:ea typeface="Microsoft YaHei" panose="020B0503020204020204" pitchFamily="3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529587"/>
              </p:ext>
            </p:extLst>
          </p:nvPr>
        </p:nvGraphicFramePr>
        <p:xfrm>
          <a:off x="228637" y="2362200"/>
          <a:ext cx="117348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1905000"/>
                <a:gridCol w="7010400"/>
                <a:gridCol w="1524000"/>
              </a:tblGrid>
              <a:tr h="382564"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Role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Skill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Target Level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598503">
                <a:tc rowSpan="5"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Engineer for test validation (software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Test item extraction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Extract test items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 from various specifications and design specifications. 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Round up and integrate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 the extracted test items into test specifications.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Level 2</a:t>
                      </a:r>
                      <a:endParaRPr lang="en-US" sz="1500" dirty="0"/>
                    </a:p>
                  </a:txBody>
                  <a:tcPr anchor="ctr"/>
                </a:tc>
              </a:tr>
              <a:tr h="598503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Testing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Conduct tests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 according to the test specifications. 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Round up the results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of the tests and make a report.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2</a:t>
                      </a:r>
                    </a:p>
                  </a:txBody>
                  <a:tcPr anchor="ctr"/>
                </a:tc>
              </a:tr>
              <a:tr h="646153">
                <a:tc vMerge="1">
                  <a:txBody>
                    <a:bodyPr/>
                    <a:lstStyle/>
                    <a:p>
                      <a:pPr algn="l"/>
                      <a:endParaRPr lang="en-US" sz="15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Failure analysis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Locate the cause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of any trouble and make analysis of its influences and other side effects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Find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similar bugs</a:t>
                      </a:r>
                    </a:p>
                  </a:txBody>
                  <a:tcPr marL="90000" marR="90000" marT="57384" marB="46800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2</a:t>
                      </a:r>
                    </a:p>
                  </a:txBody>
                  <a:tcPr anchor="ctr"/>
                </a:tc>
              </a:tr>
              <a:tr h="593174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Test environment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construction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Have knowledge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of the development environment (compiler, debugger) and target environment ( CS+, e2 studio and their plug-ins) and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conduct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tests and evaluations.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2</a:t>
                      </a:r>
                    </a:p>
                  </a:txBody>
                  <a:tcPr anchor="ctr"/>
                </a:tc>
              </a:tr>
              <a:tr h="686303">
                <a:tc vMerge="1"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Validity verification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723900" algn="l"/>
                          <a:tab pos="1447800" algn="l"/>
                          <a:tab pos="2171700" algn="l"/>
                          <a:tab pos="2895600" algn="l"/>
                          <a:tab pos="3619500" algn="l"/>
                          <a:tab pos="4343400" algn="l"/>
                          <a:tab pos="5067300" algn="l"/>
                          <a:tab pos="5791200" algn="l"/>
                          <a:tab pos="6515100" algn="l"/>
                          <a:tab pos="7239000" algn="l"/>
                          <a:tab pos="7962900" algn="l"/>
                          <a:tab pos="8686800" algn="l"/>
                          <a:tab pos="9410700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-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Create system verification specifications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 from the use cases as viewed from the user application side and from the view point of uses such as high load environment, and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conduct tests.</a:t>
                      </a:r>
                    </a:p>
                  </a:txBody>
                  <a:tcPr marL="90000" marR="90000" marT="58266" marB="46800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2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41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Target(2/2)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4</a:t>
            </a:fld>
            <a:endParaRPr lang="de-DE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883904"/>
              </p:ext>
            </p:extLst>
          </p:nvPr>
        </p:nvGraphicFramePr>
        <p:xfrm>
          <a:off x="228600" y="1600200"/>
          <a:ext cx="117348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8550"/>
                <a:gridCol w="8096250"/>
              </a:tblGrid>
              <a:tr h="547433"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Common Skill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Target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607340">
                <a:tc>
                  <a:txBody>
                    <a:bodyPr/>
                    <a:lstStyle/>
                    <a:p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Development Process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Understand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follow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Development process.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feedback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by looking at result of work.</a:t>
                      </a:r>
                    </a:p>
                  </a:txBody>
                  <a:tcPr anchor="ctr"/>
                </a:tc>
              </a:tr>
              <a:tr h="582709">
                <a:tc>
                  <a:txBody>
                    <a:bodyPr/>
                    <a:lstStyle/>
                    <a:p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Communication</a:t>
                      </a:r>
                      <a:endParaRPr kumimoji="1" lang="en-US" sz="15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express idea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others.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report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status/issues/solutions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leaders. </a:t>
                      </a:r>
                    </a:p>
                  </a:txBody>
                  <a:tcPr anchor="ctr"/>
                </a:tc>
              </a:tr>
              <a:tr h="825505">
                <a:tc>
                  <a:txBody>
                    <a:bodyPr/>
                    <a:lstStyle/>
                    <a:p>
                      <a:pPr algn="l"/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Management 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make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schedule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and follow it.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manage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common </a:t>
                      </a:r>
                      <a:r>
                        <a:rPr kumimoji="1" lang="en-US" sz="15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risk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for assigned tasks: private issues (health,…),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technical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sz="15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issues</a:t>
                      </a:r>
                      <a:r>
                        <a:rPr kumimoji="1" lang="en-US" sz="15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(lack of experience in assigned fields),… </a:t>
                      </a:r>
                    </a:p>
                  </a:txBody>
                  <a:tcPr anchor="ctr"/>
                </a:tc>
              </a:tr>
              <a:tr h="561213">
                <a:tc>
                  <a:txBody>
                    <a:bodyPr/>
                    <a:lstStyle/>
                    <a:p>
                      <a:pPr algn="l"/>
                      <a:r>
                        <a:rPr kumimoji="1" lang="en-US" sz="1500" b="1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English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1" lang="en-US" sz="15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TOEIC 700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001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Status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5</a:t>
            </a:fld>
            <a:endParaRPr lang="de-DE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493102"/>
              </p:ext>
            </p:extLst>
          </p:nvPr>
        </p:nvGraphicFramePr>
        <p:xfrm>
          <a:off x="479376" y="914400"/>
          <a:ext cx="11255423" cy="4096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481"/>
                <a:gridCol w="2011943"/>
                <a:gridCol w="6539255"/>
                <a:gridCol w="1461744"/>
              </a:tblGrid>
              <a:tr h="624952"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Role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Skill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Current status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Current 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kumimoji="1" lang="en-US" sz="15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Level</a:t>
                      </a:r>
                      <a:endParaRPr kumimoji="1" lang="en-US" sz="1500" b="0" i="0" u="none" strike="noStrike" kern="1200" baseline="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822848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Microsoft YaHei" charset="-122"/>
                        </a:rPr>
                        <a:t>Engineer for test validation (software)</a:t>
                      </a:r>
                    </a:p>
                    <a:p>
                      <a:pPr algn="ctr"/>
                      <a:endParaRPr lang="en-US" sz="1500" b="1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 item extraction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 Can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understand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simple specifications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.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 Can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create Test cases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but not cover all contexts.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Level 1</a:t>
                      </a:r>
                      <a:endParaRPr lang="en-US" sz="1500" dirty="0"/>
                    </a:p>
                  </a:txBody>
                  <a:tcPr anchor="ctr"/>
                </a:tc>
              </a:tr>
              <a:tr h="76200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Testing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Can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conduct test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for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simple modules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.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Testing without following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testing procedure.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1</a:t>
                      </a:r>
                    </a:p>
                  </a:txBody>
                  <a:tcPr anchor="ctr"/>
                </a:tc>
              </a:tr>
              <a:tr h="609600">
                <a:tc vMerge="1">
                  <a:txBody>
                    <a:bodyPr/>
                    <a:lstStyle/>
                    <a:p>
                      <a:pPr algn="ctr"/>
                      <a:endParaRPr lang="en-US" sz="15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Failure analysis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Can only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detect simple bugs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, cannot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find out root causes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1</a:t>
                      </a:r>
                    </a:p>
                  </a:txBody>
                  <a:tcPr anchor="ctr"/>
                </a:tc>
              </a:tr>
              <a:tr h="64013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 environment construction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Can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set up simple environment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.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Need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support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from Mentor to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set-up complex environment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1</a:t>
                      </a:r>
                    </a:p>
                  </a:txBody>
                  <a:tcPr anchor="ctr"/>
                </a:tc>
              </a:tr>
              <a:tr h="636830">
                <a:tc vMerge="1"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Validity verification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Can not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do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validity verification</a:t>
                      </a:r>
                    </a:p>
                  </a:txBody>
                  <a:tcPr marT="59832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 smtClean="0"/>
                        <a:t>Level 1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6874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Gaps Analysis and </a:t>
            </a:r>
            <a:r>
              <a:rPr lang="en-US" dirty="0" smtClean="0"/>
              <a:t>Solution(1/2)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6</a:t>
            </a:fld>
            <a:endParaRPr lang="de-DE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130477"/>
              </p:ext>
            </p:extLst>
          </p:nvPr>
        </p:nvGraphicFramePr>
        <p:xfrm>
          <a:off x="457201" y="1066800"/>
          <a:ext cx="11277601" cy="5796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755"/>
                <a:gridCol w="2173099"/>
                <a:gridCol w="2098165"/>
                <a:gridCol w="3072312"/>
                <a:gridCol w="2510270"/>
              </a:tblGrid>
              <a:tr h="368389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Skill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Gap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Root</a:t>
                      </a:r>
                      <a:r>
                        <a:rPr lang="en-US" sz="1500" baseline="0" dirty="0" smtClean="0"/>
                        <a:t> Causes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Mentee’s action</a:t>
                      </a:r>
                      <a:endParaRPr lang="en-US" sz="15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Mentor’s action</a:t>
                      </a:r>
                    </a:p>
                  </a:txBody>
                  <a:tcPr anchor="ctr"/>
                </a:tc>
              </a:tr>
              <a:tr h="1912021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 item extraction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Cannot create test spec. which includes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abnormal and boundary cases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Don’t have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much </a:t>
                      </a:r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experiences</a:t>
                      </a:r>
                      <a:r>
                        <a:rPr lang="en-US" sz="16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600" baseline="0" dirty="0" smtClean="0">
                          <a:solidFill>
                            <a:schemeClr val="tx1"/>
                          </a:solidFill>
                        </a:rPr>
                        <a:t>about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abnormal and boundary cases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Investigate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documents,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analyze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old test spec for comprehension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Ask Mentor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for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confirming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knowledge and unclear points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Provide reference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documents, sample PCL</a:t>
                      </a:r>
                    </a:p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Give hints/tips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to Mentee to investigate</a:t>
                      </a:r>
                    </a:p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Check output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and feedback</a:t>
                      </a:r>
                    </a:p>
                  </a:txBody>
                  <a:tcPr marT="54540" horzOverflow="overflow"/>
                </a:tc>
              </a:tr>
              <a:tr h="160579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Testing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Cannot do the complicated test case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Testing without following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testing procedure.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Comprehension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about PCL is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not good</a:t>
                      </a: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- </a:t>
                      </a: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Testing by </a:t>
                      </a:r>
                      <a:r>
                        <a:rPr kumimoji="1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</a:rPr>
                        <a:t>old habit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Investigate existing PCL t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o get main test view points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Investigate standard test procedure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which was defined in team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Provide standard procedure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for using environment of testing </a:t>
                      </a:r>
                    </a:p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Give hints/tips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to Mentee to conduct test</a:t>
                      </a:r>
                    </a:p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Check output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and feedback</a:t>
                      </a:r>
                    </a:p>
                  </a:txBody>
                  <a:tcPr marT="54540" horzOverflow="overflow"/>
                </a:tc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Failure analysis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Cannot find the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root causes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of bugs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Lack of knowledge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about Failure analysis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600" dirty="0" smtClean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Investigate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old countermeasures report to know how to analyze bugs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Investigate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side effects to check for similar bugs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Confirm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output and unclear points with Mentor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Provide sample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report.</a:t>
                      </a:r>
                    </a:p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Give hints/tips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to Mentee to analyze failure efficiently</a:t>
                      </a:r>
                    </a:p>
                    <a:p>
                      <a:pPr marL="169863" marR="0" lvl="0" indent="-169863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Char char="-"/>
                        <a:tabLst>
                          <a:tab pos="169863" algn="l"/>
                          <a:tab pos="1084263" algn="l"/>
                          <a:tab pos="1998663" algn="l"/>
                          <a:tab pos="2913063" algn="l"/>
                          <a:tab pos="3827463" algn="l"/>
                          <a:tab pos="4741863" algn="l"/>
                          <a:tab pos="5656263" algn="l"/>
                          <a:tab pos="6570663" algn="l"/>
                          <a:tab pos="7485063" algn="l"/>
                          <a:tab pos="8399463" algn="l"/>
                          <a:tab pos="9313863" algn="l"/>
                          <a:tab pos="10228263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Check report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and feedback</a:t>
                      </a:r>
                    </a:p>
                  </a:txBody>
                  <a:tcPr marT="54540" horzOverflow="overflow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272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Gaps Analysis and </a:t>
            </a:r>
            <a:r>
              <a:rPr lang="en-US" dirty="0" smtClean="0"/>
              <a:t>Solution(2/2)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7</a:t>
            </a:fld>
            <a:endParaRPr lang="de-DE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283088"/>
              </p:ext>
            </p:extLst>
          </p:nvPr>
        </p:nvGraphicFramePr>
        <p:xfrm>
          <a:off x="304801" y="990600"/>
          <a:ext cx="11658600" cy="5326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331720"/>
                <a:gridCol w="2331720"/>
                <a:gridCol w="2331720"/>
                <a:gridCol w="2331720"/>
              </a:tblGrid>
              <a:tr h="32295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Skill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Gap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smtClean="0"/>
                        <a:t>Root</a:t>
                      </a:r>
                      <a:r>
                        <a:rPr lang="en-US" sz="1600" baseline="0" smtClean="0"/>
                        <a:t> Causes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Mentee’s action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Mentor’s action</a:t>
                      </a:r>
                    </a:p>
                  </a:txBody>
                  <a:tcPr anchor="ctr"/>
                </a:tc>
              </a:tr>
              <a:tr h="140709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Environment construction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Cannot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set up environment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which combine 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many 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plug-ins</a:t>
                      </a:r>
                      <a:r>
                        <a:rPr kumimoji="0" 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inside 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baseline="0" dirty="0" smtClean="0">
                          <a:solidFill>
                            <a:srgbClr val="FF0000"/>
                          </a:solidFill>
                        </a:rPr>
                        <a:t>Don’t understand </a:t>
                      </a:r>
                      <a:r>
                        <a:rPr lang="en-US" sz="1600" baseline="0" dirty="0" smtClean="0"/>
                        <a:t>all component plug-ins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Take notes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important steps to create environment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Set-up environment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based on Mentor's hints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Provide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reference documents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Check output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and feedback</a:t>
                      </a:r>
                    </a:p>
                  </a:txBody>
                  <a:tcPr marT="54540" horzOverflow="overflow"/>
                </a:tc>
              </a:tr>
              <a:tr h="206235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Validity verification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Can not do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system validity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as user view point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rgbClr val="FF0000"/>
                          </a:solidFill>
                        </a:rPr>
                        <a:t>Don’t have basic</a:t>
                      </a:r>
                      <a:r>
                        <a:rPr lang="en-US" sz="1600" baseline="0" dirty="0" smtClean="0">
                          <a:solidFill>
                            <a:srgbClr val="FF0000"/>
                          </a:solidFill>
                        </a:rPr>
                        <a:t> knowledge </a:t>
                      </a:r>
                      <a:r>
                        <a:rPr lang="en-US" sz="1600" baseline="0" dirty="0" smtClean="0"/>
                        <a:t>about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system validity </a:t>
                      </a:r>
                      <a:r>
                        <a:rPr lang="en-US" sz="1600" baseline="0" dirty="0" smtClean="0"/>
                        <a:t> 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Investigate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about the system using User manual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Refer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old test spec. to create sample test spec.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Confirm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output with Mentor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Provide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reference documents, sample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Check output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and feedback</a:t>
                      </a:r>
                    </a:p>
                  </a:txBody>
                  <a:tcPr marT="54540" horzOverflow="overflow"/>
                </a:tc>
              </a:tr>
              <a:tr h="1389193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English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Got problem in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using some words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in technical field 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Lack of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technical vocabularies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Learning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more technical vocabularies from documents and </a:t>
                      </a:r>
                    </a:p>
                  </a:txBody>
                  <a:tcPr marT="5454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Explain </a:t>
                      </a: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context and meaning of any technical vocabularies that mentee confuses</a:t>
                      </a:r>
                    </a:p>
                  </a:txBody>
                  <a:tcPr marT="54540" horzOverflow="overflow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1992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Plan – </a:t>
            </a:r>
            <a:r>
              <a:rPr lang="en-US" dirty="0" err="1" smtClean="0"/>
              <a:t>TestiNG</a:t>
            </a:r>
            <a:r>
              <a:rPr lang="en-US" dirty="0" smtClean="0"/>
              <a:t> SKILL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8</a:t>
            </a:fld>
            <a:endParaRPr lang="de-DE" dirty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568973"/>
              </p:ext>
            </p:extLst>
          </p:nvPr>
        </p:nvGraphicFramePr>
        <p:xfrm>
          <a:off x="750670" y="1077347"/>
          <a:ext cx="10565029" cy="2545080"/>
        </p:xfrm>
        <a:graphic>
          <a:graphicData uri="http://schemas.openxmlformats.org/drawingml/2006/table">
            <a:tbl>
              <a:tblPr/>
              <a:tblGrid>
                <a:gridCol w="4946395"/>
                <a:gridCol w="5618634"/>
              </a:tblGrid>
              <a:tr h="246103">
                <a:tc gridSpan="2"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Test Environment Construction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30349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1.5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Set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up e2s Environment (simulator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debug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)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without support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- Aug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(3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Investigate about the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 e2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studio and plug-ins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Take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notes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important steps to create testing environment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Set-up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environment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based on Mentor’s hints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Provide reference documents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Check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output and feedback</a:t>
                      </a:r>
                    </a:p>
                    <a:p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ticket verification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2</a:t>
                      </a: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Set up e2s Environment (various hardware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debug)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without support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Aug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- Nov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(3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Take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notes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important steps to create testing environment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Set-up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environment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 based on Mentor’s hints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Provide reference documents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Check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output and feedback</a:t>
                      </a:r>
                    </a:p>
                    <a:p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regression test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501433"/>
              </p:ext>
            </p:extLst>
          </p:nvPr>
        </p:nvGraphicFramePr>
        <p:xfrm>
          <a:off x="750670" y="3755916"/>
          <a:ext cx="10565029" cy="2620518"/>
        </p:xfrm>
        <a:graphic>
          <a:graphicData uri="http://schemas.openxmlformats.org/drawingml/2006/table">
            <a:tbl>
              <a:tblPr/>
              <a:tblGrid>
                <a:gridCol w="4946395"/>
                <a:gridCol w="5618634"/>
              </a:tblGrid>
              <a:tr h="349758">
                <a:tc gridSpan="2"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</a:t>
                      </a:r>
                      <a:r>
                        <a:rPr lang="en-US" sz="1200" b="1" baseline="0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itchFamily="34" charset="0"/>
                        </a:rPr>
                        <a:t>Testing</a:t>
                      </a:r>
                      <a:r>
                        <a:rPr lang="en-US" sz="1200" b="1" baseline="0" dirty="0" smtClean="0">
                          <a:solidFill>
                            <a:schemeClr val="bg1"/>
                          </a:solidFill>
                          <a:latin typeface="+mn-lt"/>
                          <a:cs typeface="Calibri" pitchFamily="34" charset="0"/>
                        </a:rPr>
                        <a:t> 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193624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1.5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itchFamily="34" charset="0"/>
                        </a:rPr>
                        <a:t>Re</a:t>
                      </a:r>
                      <a:r>
                        <a:rPr lang="en-US" sz="1300" baseline="0" dirty="0" smtClean="0">
                          <a:latin typeface="+mn-lt"/>
                          <a:cs typeface="Calibri" pitchFamily="34" charset="0"/>
                        </a:rPr>
                        <a:t>ported issues due to lack of knowledge less than 40%</a:t>
                      </a: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/>
                      </a:r>
                      <a:b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</a:b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- Aug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(3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Investigate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old test report, bug report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for comprehension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Self-create test report, bug report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Provide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old test report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 hints/tips to Mentee to conduct test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Check output and feedback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ticket verification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2</a:t>
                      </a:r>
                      <a:r>
                        <a:rPr lang="en-US" sz="1300" b="1" baseline="0" dirty="0" smtClean="0">
                          <a:latin typeface="+mn-lt"/>
                          <a:cs typeface="Calibri" pitchFamily="34" charset="0"/>
                        </a:rPr>
                        <a:t>-</a:t>
                      </a:r>
                      <a:r>
                        <a:rPr lang="en-US" sz="1300" baseline="0" dirty="0" smtClean="0">
                          <a:latin typeface="+mn-lt"/>
                          <a:cs typeface="Calibri" pitchFamily="34" charset="0"/>
                        </a:rPr>
                        <a:t>Reported issues due to lack of knowledge less than 20%</a:t>
                      </a:r>
                      <a:endParaRPr lang="en-US" sz="1300" b="1" dirty="0" smtClean="0">
                        <a:solidFill>
                          <a:srgbClr val="FF0000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Aug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- Nov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(3 months)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lang="en-US" sz="1300" b="1" baseline="0" dirty="0" smtClean="0">
                          <a:latin typeface="+mn-lt"/>
                          <a:cs typeface="Calibri" pitchFamily="34" charset="0"/>
                        </a:rPr>
                        <a:t>Mentee: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Confirm unclear points in requirement spec. with Mentor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Self-create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test report, bug report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Times New Roman" pitchFamily="16" charset="0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Mentor: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 hints/tips to Mentee to conduct test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Check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output and feedback.</a:t>
                      </a:r>
                      <a:endParaRPr lang="en-US" sz="1300" dirty="0" smtClean="0">
                        <a:solidFill>
                          <a:srgbClr val="FF0000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ticket verification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0540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Plan – Testing skill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9</a:t>
            </a:fld>
            <a:endParaRPr lang="de-DE" dirty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427005"/>
              </p:ext>
            </p:extLst>
          </p:nvPr>
        </p:nvGraphicFramePr>
        <p:xfrm>
          <a:off x="838200" y="1170575"/>
          <a:ext cx="9456683" cy="2346960"/>
        </p:xfrm>
        <a:graphic>
          <a:graphicData uri="http://schemas.openxmlformats.org/drawingml/2006/table">
            <a:tbl>
              <a:tblPr/>
              <a:tblGrid>
                <a:gridCol w="5418083"/>
                <a:gridCol w="4038600"/>
              </a:tblGrid>
              <a:tr h="246103">
                <a:tc gridSpan="2"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Test item extraction 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19507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1.5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300" dirty="0" smtClean="0">
                          <a:latin typeface="+mn-lt"/>
                          <a:cs typeface="Calibri" pitchFamily="34" charset="0"/>
                        </a:rPr>
                        <a:t>Create</a:t>
                      </a:r>
                      <a:r>
                        <a:rPr lang="en-US" sz="1300" baseline="0" dirty="0" smtClean="0">
                          <a:latin typeface="+mn-lt"/>
                          <a:cs typeface="Calibri" pitchFamily="34" charset="0"/>
                        </a:rPr>
                        <a:t> test spec. cover 75% of requirement  spec. 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- Oct 2017 (6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Investigate documents,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analyze old test spec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. to get test viewpoint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Confirm test viewpoint with mentor, then conduct creating test spec.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Provide reference documents, sample PCL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 hints/tips to Mentee to investigate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Check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output and feedback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ticket verification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2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300" dirty="0" smtClean="0">
                          <a:latin typeface="+mn-lt"/>
                          <a:cs typeface="Calibri" pitchFamily="34" charset="0"/>
                        </a:rPr>
                        <a:t>Create</a:t>
                      </a:r>
                      <a:r>
                        <a:rPr lang="en-US" sz="1300" baseline="0" dirty="0" smtClean="0">
                          <a:latin typeface="+mn-lt"/>
                          <a:cs typeface="Calibri" pitchFamily="34" charset="0"/>
                        </a:rPr>
                        <a:t> test spec. cover 100% of requirement  spec. 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Oct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- May 2018 (6 months)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Ask Mentor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for confirming knowledge and unclear points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 hints/tips to Mentee to investigate. Check output and feedback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regression test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115146"/>
              </p:ext>
            </p:extLst>
          </p:nvPr>
        </p:nvGraphicFramePr>
        <p:xfrm>
          <a:off x="838200" y="3738065"/>
          <a:ext cx="9456683" cy="2545080"/>
        </p:xfrm>
        <a:graphic>
          <a:graphicData uri="http://schemas.openxmlformats.org/drawingml/2006/table">
            <a:tbl>
              <a:tblPr/>
              <a:tblGrid>
                <a:gridCol w="5418083"/>
                <a:gridCol w="4038600"/>
              </a:tblGrid>
              <a:tr h="246103">
                <a:tc gridSpan="2"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Failure</a:t>
                      </a:r>
                      <a:r>
                        <a:rPr lang="en-US" sz="1200" b="1" baseline="0" dirty="0" smtClean="0">
                          <a:solidFill>
                            <a:schemeClr val="bg1"/>
                          </a:solidFill>
                          <a:latin typeface="+mn-lt"/>
                          <a:cs typeface="Calibri" pitchFamily="34" charset="0"/>
                        </a:rPr>
                        <a:t> analysis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19507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1.5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300" dirty="0" smtClean="0">
                          <a:latin typeface="+mn-lt"/>
                          <a:cs typeface="Calibri" pitchFamily="34" charset="0"/>
                        </a:rPr>
                        <a:t>Create</a:t>
                      </a:r>
                      <a:r>
                        <a:rPr lang="en-US" sz="1300" baseline="0" dirty="0" smtClean="0">
                          <a:latin typeface="+mn-lt"/>
                          <a:cs typeface="Calibri" pitchFamily="34" charset="0"/>
                        </a:rPr>
                        <a:t> test spec. cover 75% of requirement  spec. 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- May 2018 (12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Confirm unclear points in requirement spec. with Mentor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Investigate old test report, bug report for comprehension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Self-create test report, bug report</a:t>
                      </a:r>
                      <a:endParaRPr kumimoji="1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Provide old test report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 hints/tips to Mentee to conduct test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Check output and feedback.</a:t>
                      </a: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ticket verification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2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itchFamily="34" charset="0"/>
                        </a:rPr>
                        <a:t>Can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itchFamily="34" charset="0"/>
                        </a:rPr>
                        <a:t> analyze normal bug without support.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b="0" dirty="0" smtClean="0">
                          <a:latin typeface="+mn-lt"/>
                          <a:cs typeface="Calibri" panose="020F0502020204030204" pitchFamily="34" charset="0"/>
                        </a:rPr>
                        <a:t>:</a:t>
                      </a:r>
                      <a:r>
                        <a:rPr lang="en-US" sz="1300" b="0" baseline="0" dirty="0" smtClean="0"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b="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May 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2018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- May 2019 (12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months)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Self-create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analysis failure report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Confirm output and unclear points with Mentor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 hints/tips to Mentee to analyze failure efficiently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Check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report and feedback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regression test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22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Plan – testing skill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10</a:t>
            </a:fld>
            <a:endParaRPr lang="de-DE" dirty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269651"/>
              </p:ext>
            </p:extLst>
          </p:nvPr>
        </p:nvGraphicFramePr>
        <p:xfrm>
          <a:off x="1066800" y="1676400"/>
          <a:ext cx="10058400" cy="2971800"/>
        </p:xfrm>
        <a:graphic>
          <a:graphicData uri="http://schemas.openxmlformats.org/drawingml/2006/table">
            <a:tbl>
              <a:tblPr/>
              <a:tblGrid>
                <a:gridCol w="5762829"/>
                <a:gridCol w="4295571"/>
              </a:tblGrid>
              <a:tr h="332921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  <a:tab pos="9410700" algn="l"/>
                        </a:tabLst>
                      </a:pPr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</a:t>
                      </a:r>
                      <a:r>
                        <a:rPr kumimoji="0" 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Validity verification</a:t>
                      </a: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26388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1.5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Create system verification specification with viewpoint of user with little support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- May 2018 (12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Discuss test view points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with mentor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Investigate the related documents collected by mentor to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create test specification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and conduct system test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Take investigation note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for knowledge sharing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Provide referent documents and old test data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to mentee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Review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output of mentee and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feedback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ticket verification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b="1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Level 2</a:t>
                      </a:r>
                      <a:r>
                        <a:rPr lang="en-US" sz="1300" b="1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-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Create system verification specification with viewpoint of user without support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2018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- May 2019 (12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months)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Discuss test view points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with mentor;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Take investigation note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for knowledge sharing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Provide referent documents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to mentee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9863" algn="l"/>
                          <a:tab pos="627063" algn="l"/>
                          <a:tab pos="1084263" algn="l"/>
                          <a:tab pos="1541463" algn="l"/>
                          <a:tab pos="1998663" algn="l"/>
                          <a:tab pos="2455863" algn="l"/>
                          <a:tab pos="2913063" algn="l"/>
                          <a:tab pos="3370263" algn="l"/>
                          <a:tab pos="3827463" algn="l"/>
                          <a:tab pos="4284663" algn="l"/>
                          <a:tab pos="4741863" algn="l"/>
                          <a:tab pos="5199063" algn="l"/>
                          <a:tab pos="5656263" algn="l"/>
                          <a:tab pos="6113463" algn="l"/>
                          <a:tab pos="6570663" algn="l"/>
                          <a:tab pos="7027863" algn="l"/>
                          <a:tab pos="7485063" algn="l"/>
                          <a:tab pos="7942263" algn="l"/>
                          <a:tab pos="8399463" algn="l"/>
                          <a:tab pos="8856663" algn="l"/>
                          <a:tab pos="9313863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Review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output of mentee and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feedback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Assigned task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e2 studio regression test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383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Plan – common skill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11</a:t>
            </a:fld>
            <a:endParaRPr lang="de-DE" dirty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306701"/>
              </p:ext>
            </p:extLst>
          </p:nvPr>
        </p:nvGraphicFramePr>
        <p:xfrm>
          <a:off x="1089454" y="1449848"/>
          <a:ext cx="9654746" cy="2207752"/>
        </p:xfrm>
        <a:graphic>
          <a:graphicData uri="http://schemas.openxmlformats.org/drawingml/2006/table">
            <a:tbl>
              <a:tblPr/>
              <a:tblGrid>
                <a:gridCol w="9654746"/>
              </a:tblGrid>
              <a:tr h="380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</a:t>
                      </a:r>
                      <a:r>
                        <a:rPr kumimoji="0" lang="en-US" sz="1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IDE </a:t>
                      </a:r>
                      <a:r>
                        <a:rPr lang="en-US" sz="13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architecture</a:t>
                      </a:r>
                      <a:endParaRPr lang="en-US" sz="1300" b="1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18269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Can understand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IDE 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architecture</a:t>
                      </a:r>
                      <a:r>
                        <a:rPr kumimoji="1" lang="en-US" sz="13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- May 2018</a:t>
                      </a:r>
                      <a:r>
                        <a:rPr lang="en-US" sz="13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(12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Take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note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for IDE knowledge got from IDE Verification tasks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1300" b="0" dirty="0" smtClean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Given some hints and experiences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for Mentee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endParaRPr kumimoji="1" lang="en-US" sz="13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656837"/>
              </p:ext>
            </p:extLst>
          </p:nvPr>
        </p:nvGraphicFramePr>
        <p:xfrm>
          <a:off x="1103870" y="3962400"/>
          <a:ext cx="9640330" cy="2057400"/>
        </p:xfrm>
        <a:graphic>
          <a:graphicData uri="http://schemas.openxmlformats.org/drawingml/2006/table">
            <a:tbl>
              <a:tblPr/>
              <a:tblGrid>
                <a:gridCol w="9640330"/>
              </a:tblGrid>
              <a:tr h="319207">
                <a:tc>
                  <a:txBody>
                    <a:bodyPr/>
                    <a:lstStyle/>
                    <a:p>
                      <a:r>
                        <a:rPr lang="en-US" sz="13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</a:t>
                      </a:r>
                      <a:r>
                        <a:rPr kumimoji="0" lang="en-US" sz="1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. </a:t>
                      </a:r>
                      <a:r>
                        <a:rPr lang="en-US" sz="13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Operating</a:t>
                      </a:r>
                      <a:r>
                        <a:rPr lang="en-US" sz="1300" b="1" baseline="0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 System</a:t>
                      </a:r>
                      <a:endParaRPr lang="en-US" sz="1300" b="1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17381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Can understand objective </a:t>
                      </a:r>
                      <a:r>
                        <a:rPr lang="en-US" sz="130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Operating System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of assigned product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- May 2019</a:t>
                      </a:r>
                      <a:r>
                        <a:rPr lang="en-US" sz="13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(24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months)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Investigate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b="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OS document 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Take note for OS knowledge got from IDE Verification tasks</a:t>
                      </a:r>
                      <a:endParaRPr lang="en-US" sz="1300" b="0" dirty="0" smtClean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Given some hints and experiences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for Mentee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endParaRPr kumimoji="1" lang="en-US" sz="13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438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Plan – common skill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12</a:t>
            </a:fld>
            <a:endParaRPr lang="de-DE" dirty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170868"/>
              </p:ext>
            </p:extLst>
          </p:nvPr>
        </p:nvGraphicFramePr>
        <p:xfrm>
          <a:off x="1066800" y="1752600"/>
          <a:ext cx="9372600" cy="2590800"/>
        </p:xfrm>
        <a:graphic>
          <a:graphicData uri="http://schemas.openxmlformats.org/drawingml/2006/table">
            <a:tbl>
              <a:tblPr/>
              <a:tblGrid>
                <a:gridCol w="9372600"/>
              </a:tblGrid>
              <a:tr h="3741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</a:t>
                      </a:r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Development process</a:t>
                      </a:r>
                      <a:endParaRPr lang="en-US" sz="1200" b="1" dirty="0" smtClean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21663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Can do feed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back by looking at result of work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- May 2019</a:t>
                      </a:r>
                      <a:r>
                        <a:rPr lang="en-US" sz="1300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(24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months)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Attend meeting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to follow the </a:t>
                      </a:r>
                      <a:r>
                        <a:rPr lang="en-US" sz="1300" b="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process requirement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Report </a:t>
                      </a:r>
                      <a:r>
                        <a:rPr lang="en-US" sz="130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activities</a:t>
                      </a:r>
                      <a:r>
                        <a:rPr lang="en-US" sz="1300" baseline="0" dirty="0" smtClean="0">
                          <a:latin typeface="+mn-lt"/>
                          <a:cs typeface="Calibri" panose="020F0502020204030204" pitchFamily="34" charset="0"/>
                        </a:rPr>
                        <a:t> to Mentor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1300" b="0" dirty="0" smtClean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Require Mentee to follow process in his work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Monitor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 Mentee’s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activities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endParaRPr kumimoji="1" lang="en-US" sz="1100" b="0" i="0" u="none" strike="noStrike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09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</a:t>
            </a:r>
            <a:r>
              <a:rPr lang="en-US" dirty="0" smtClean="0"/>
              <a:t>Plan – Common skill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dirty="0" smtClean="0"/>
              <a:t>Page </a:t>
            </a:r>
            <a:fld id="{3FD030EF-7044-4946-962A-5D7D09BD1B34}" type="slidenum">
              <a:rPr lang="de-DE" smtClean="0"/>
              <a:pPr/>
              <a:t>13</a:t>
            </a:fld>
            <a:endParaRPr lang="de-DE" dirty="0"/>
          </a:p>
        </p:txBody>
      </p:sp>
      <p:graphicFrame>
        <p:nvGraphicFramePr>
          <p:cNvPr id="6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063304"/>
              </p:ext>
            </p:extLst>
          </p:nvPr>
        </p:nvGraphicFramePr>
        <p:xfrm>
          <a:off x="914399" y="1143001"/>
          <a:ext cx="10054281" cy="2459732"/>
        </p:xfrm>
        <a:graphic>
          <a:graphicData uri="http://schemas.openxmlformats.org/drawingml/2006/table">
            <a:tbl>
              <a:tblPr/>
              <a:tblGrid>
                <a:gridCol w="5760469"/>
                <a:gridCol w="4293812"/>
              </a:tblGrid>
              <a:tr h="292096">
                <a:tc gridSpan="2"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</a:t>
                      </a:r>
                      <a:r>
                        <a:rPr kumimoji="1" lang="en-US" sz="1200" b="1" i="0" u="none" strike="noStrike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Management Ability </a:t>
                      </a:r>
                      <a:endParaRPr lang="en-US" sz="1200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214630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kumimoji="1" lang="en-US" sz="13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Can keep assigned schedule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-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Oct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2018 (6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Make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schedule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endParaRPr lang="en-US" sz="1300" b="0" baseline="0" dirty="0" smtClean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Given experiences and tips for Mentee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Confirm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Mentee’s schedule</a:t>
                      </a: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kumimoji="1" lang="en-US" sz="13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Can keep schedule and raise alarm if necessary 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- May 2018 (6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Make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schedule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and define </a:t>
                      </a:r>
                      <a:r>
                        <a:rPr lang="en-US" sz="1300" b="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risk</a:t>
                      </a:r>
                      <a:r>
                        <a:rPr lang="en-US" sz="1300" b="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for each task 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Improve estimating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ability base on previous works by collecting </a:t>
                      </a:r>
                      <a:r>
                        <a:rPr lang="en-US" sz="130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work data</a:t>
                      </a:r>
                      <a:endParaRPr kumimoji="0" lang="en-US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2" charset="-128"/>
                        <a:cs typeface="Calibri" pitchFamily="34" charset="0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None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Given experiences and tips for Mentee</a:t>
                      </a:r>
                    </a:p>
                    <a:p>
                      <a:pPr marL="171450" marR="0" lvl="0" indent="-171450" algn="l" defTabSz="457200" rtl="0" eaLnBrk="1" fontAlgn="base" latinLnBrk="0" hangingPunct="1">
                        <a:lnSpc>
                          <a:spcPct val="8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typeface="Wingdings" panose="05000000000000000000" pitchFamily="2" charset="2"/>
                        <a:buChar char="q"/>
                        <a:tabLst>
                          <a:tab pos="168275" algn="l"/>
                          <a:tab pos="625475" algn="l"/>
                          <a:tab pos="1082675" algn="l"/>
                          <a:tab pos="1539875" algn="l"/>
                          <a:tab pos="1997075" algn="l"/>
                          <a:tab pos="2454275" algn="l"/>
                          <a:tab pos="2911475" algn="l"/>
                          <a:tab pos="3368675" algn="l"/>
                          <a:tab pos="3825875" algn="l"/>
                          <a:tab pos="4283075" algn="l"/>
                          <a:tab pos="4740275" algn="l"/>
                          <a:tab pos="5197475" algn="l"/>
                          <a:tab pos="5654675" algn="l"/>
                          <a:tab pos="6111875" algn="l"/>
                          <a:tab pos="6569075" algn="l"/>
                          <a:tab pos="7026275" algn="l"/>
                          <a:tab pos="7483475" algn="l"/>
                          <a:tab pos="7940675" algn="l"/>
                          <a:tab pos="8397875" algn="l"/>
                          <a:tab pos="8855075" algn="l"/>
                          <a:tab pos="9312275" algn="l"/>
                        </a:tabLst>
                      </a:pP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Confirm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Mentee’s schedule </a:t>
                      </a:r>
                      <a:r>
                        <a:rPr kumimoji="0" lang="en-US" sz="13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2" charset="-128"/>
                          <a:cs typeface="Calibri" pitchFamily="34" charset="0"/>
                        </a:rPr>
                        <a:t>and risk management table </a:t>
                      </a: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93098"/>
              </p:ext>
            </p:extLst>
          </p:nvPr>
        </p:nvGraphicFramePr>
        <p:xfrm>
          <a:off x="910280" y="3721678"/>
          <a:ext cx="10091351" cy="2743200"/>
        </p:xfrm>
        <a:graphic>
          <a:graphicData uri="http://schemas.openxmlformats.org/drawingml/2006/table">
            <a:tbl>
              <a:tblPr/>
              <a:tblGrid>
                <a:gridCol w="5781708"/>
                <a:gridCol w="4309643"/>
              </a:tblGrid>
              <a:tr h="252672">
                <a:tc gridSpan="2"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bg1"/>
                          </a:solidFill>
                          <a:latin typeface="+mn-lt"/>
                          <a:cs typeface="Calibri" panose="020F0502020204030204" pitchFamily="34" charset="0"/>
                        </a:rPr>
                        <a:t>Skill: Communication ability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227405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kumimoji="1" lang="en-US" sz="13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Can report his problem to supervisor </a:t>
                      </a: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May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- Oct 2018 (6 months)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Report </a:t>
                      </a:r>
                      <a:r>
                        <a:rPr lang="en-US" sz="130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work status 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and get comments from Mentor (daily, weekly…)</a:t>
                      </a:r>
                      <a:endParaRPr lang="en-US" sz="1300" dirty="0" smtClean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Refer to report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 of </a:t>
                      </a:r>
                      <a:r>
                        <a:rPr lang="en-US" sz="130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experience engineers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Improve English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Check Mentee’s report and give comments frequently</a:t>
                      </a:r>
                      <a:endParaRPr lang="en-US" sz="1300" dirty="0" smtClean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Monitor mentee’s improvement progress regularly, carefully and give advice (if any)</a:t>
                      </a:r>
                      <a:endParaRPr lang="en-US" sz="1300" dirty="0"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Target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kumimoji="1" lang="en-US" sz="1300" b="0" i="0" u="none" strike="noStrike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Can report work status in his team </a:t>
                      </a:r>
                      <a:endParaRPr lang="en-US" sz="1300" baseline="0" dirty="0" smtClean="0">
                        <a:solidFill>
                          <a:schemeClr val="tx1"/>
                        </a:solidFill>
                        <a:latin typeface="+mn-lt"/>
                        <a:cs typeface="Calibri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Duration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Oct</a:t>
                      </a:r>
                      <a:r>
                        <a:rPr lang="en-US" sz="1300" baseline="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2017</a:t>
                      </a:r>
                      <a:r>
                        <a:rPr lang="en-US" sz="1300" dirty="0" smtClean="0">
                          <a:solidFill>
                            <a:srgbClr val="00B050"/>
                          </a:solidFill>
                          <a:latin typeface="+mn-lt"/>
                          <a:cs typeface="Calibri" panose="020F0502020204030204" pitchFamily="34" charset="0"/>
                        </a:rPr>
                        <a:t> - May 2018 (6 months)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Mentee's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Report </a:t>
                      </a:r>
                      <a:r>
                        <a:rPr lang="en-US" sz="130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>work status </a:t>
                      </a: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and get comments from Mentor (daily, weekly…)</a:t>
                      </a:r>
                    </a:p>
                    <a:p>
                      <a:pPr marL="171450" marR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Improve English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sz="1300" dirty="0" smtClean="0"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300" b="1" dirty="0" smtClean="0">
                          <a:latin typeface="+mn-lt"/>
                          <a:cs typeface="Calibri" panose="020F0502020204030204" pitchFamily="34" charset="0"/>
                        </a:rPr>
                        <a:t>Mentor's action</a:t>
                      </a:r>
                      <a:r>
                        <a:rPr lang="en-US" sz="1300" dirty="0" smtClean="0">
                          <a:latin typeface="+mn-lt"/>
                          <a:cs typeface="Calibri" panose="020F0502020204030204" pitchFamily="34" charset="0"/>
                        </a:rPr>
                        <a:t>: </a:t>
                      </a:r>
                    </a:p>
                    <a:p>
                      <a:pPr marL="171450" marR="0" indent="-17145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Check Mentee’s report and give comments frequently.</a:t>
                      </a:r>
                      <a:endParaRPr lang="en-US" sz="1300" dirty="0" smtClean="0">
                        <a:solidFill>
                          <a:schemeClr val="tx1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300" baseline="0" dirty="0" smtClean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Monitor mentee’s improvement progress regularly, carefully and give advice (if any)</a:t>
                      </a:r>
                      <a:r>
                        <a:rPr lang="en-US" sz="130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  <a:t/>
                      </a:r>
                      <a:br>
                        <a:rPr lang="en-US" sz="1300" baseline="0" dirty="0" smtClean="0">
                          <a:solidFill>
                            <a:srgbClr val="FF0000"/>
                          </a:solidFill>
                          <a:latin typeface="+mn-lt"/>
                          <a:cs typeface="Calibri" panose="020F0502020204030204" pitchFamily="34" charset="0"/>
                        </a:rPr>
                      </a:br>
                      <a:endParaRPr lang="en-US" sz="1300" baseline="0" dirty="0" smtClean="0">
                        <a:solidFill>
                          <a:srgbClr val="FF0000"/>
                        </a:solidFill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>
                    <a:lnL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5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73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de-DE" smtClean="0"/>
              <a:t>Page </a:t>
            </a:r>
            <a:fld id="{3FD030EF-7044-4946-962A-5D7D09BD1B34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7" name="Text Placeholder 5"/>
          <p:cNvSpPr>
            <a:spLocks noGrp="1"/>
          </p:cNvSpPr>
          <p:nvPr>
            <p:ph idx="1"/>
          </p:nvPr>
        </p:nvSpPr>
        <p:spPr>
          <a:xfrm>
            <a:off x="480438" y="1752600"/>
            <a:ext cx="11231197" cy="3069558"/>
          </a:xfrm>
        </p:spPr>
        <p:txBody>
          <a:bodyPr/>
          <a:lstStyle/>
          <a:p>
            <a:r>
              <a:rPr lang="en-US" sz="2400" b="1" i="1" dirty="0"/>
              <a:t>Commitment </a:t>
            </a:r>
            <a:r>
              <a:rPr lang="en-US" sz="2400" b="1" i="1" dirty="0" smtClean="0"/>
              <a:t>after </a:t>
            </a:r>
            <a:r>
              <a:rPr lang="en-US" sz="2400" b="1" i="1" dirty="0"/>
              <a:t>2 </a:t>
            </a:r>
            <a:r>
              <a:rPr lang="en-US" sz="2400" b="1" i="1" dirty="0" smtClean="0"/>
              <a:t>years:</a:t>
            </a:r>
            <a:endParaRPr lang="en-US" sz="2400" b="1" i="1" dirty="0"/>
          </a:p>
          <a:p>
            <a:pPr marL="56991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Achieve </a:t>
            </a:r>
            <a:r>
              <a:rPr lang="en-US" sz="2500" b="1" dirty="0">
                <a:solidFill>
                  <a:srgbClr val="FF0000"/>
                </a:solidFill>
              </a:rPr>
              <a:t>L</a:t>
            </a:r>
            <a:r>
              <a:rPr lang="en-US" sz="2500" b="1" dirty="0" smtClean="0">
                <a:solidFill>
                  <a:srgbClr val="FF0000"/>
                </a:solidFill>
              </a:rPr>
              <a:t>evel </a:t>
            </a:r>
            <a:r>
              <a:rPr lang="en-US" sz="2500" b="1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 </a:t>
            </a:r>
            <a:r>
              <a:rPr lang="en-US" sz="2400" dirty="0" smtClean="0"/>
              <a:t>for </a:t>
            </a:r>
            <a:r>
              <a:rPr lang="en-US" sz="2400" dirty="0" smtClean="0">
                <a:solidFill>
                  <a:srgbClr val="FF0000"/>
                </a:solidFill>
              </a:rPr>
              <a:t>T</a:t>
            </a:r>
            <a:r>
              <a:rPr kumimoji="0" lang="en-US" sz="2400" dirty="0">
                <a:solidFill>
                  <a:srgbClr val="FF0000"/>
                </a:solidFill>
                <a:ea typeface="Microsoft YaHei" charset="-122"/>
              </a:rPr>
              <a:t>e</a:t>
            </a:r>
            <a:r>
              <a:rPr kumimoji="0" lang="en-US" sz="2400" dirty="0" smtClean="0">
                <a:solidFill>
                  <a:srgbClr val="FF0000"/>
                </a:solidFill>
                <a:ea typeface="Microsoft YaHei" charset="-122"/>
              </a:rPr>
              <a:t>st validation Engineer</a:t>
            </a:r>
            <a:endParaRPr lang="en-US" sz="2400" dirty="0">
              <a:solidFill>
                <a:srgbClr val="FF0000"/>
              </a:solidFill>
            </a:endParaRPr>
          </a:p>
          <a:p>
            <a:pPr marL="56991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Tasks </a:t>
            </a:r>
            <a:r>
              <a:rPr lang="en-US" sz="2400" dirty="0" smtClean="0">
                <a:solidFill>
                  <a:srgbClr val="FF0000"/>
                </a:solidFill>
              </a:rPr>
              <a:t>self-schedule </a:t>
            </a:r>
            <a:r>
              <a:rPr lang="en-US" sz="2400" dirty="0" smtClean="0"/>
              <a:t>ability.</a:t>
            </a:r>
          </a:p>
          <a:p>
            <a:pPr marL="56991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</a:rPr>
              <a:t>Ensure </a:t>
            </a:r>
            <a:r>
              <a:rPr lang="en-US" sz="2400" dirty="0">
                <a:solidFill>
                  <a:srgbClr val="FF0000"/>
                </a:solidFill>
              </a:rPr>
              <a:t>the quality</a:t>
            </a:r>
            <a:r>
              <a:rPr lang="en-US" sz="2400" dirty="0"/>
              <a:t> of output and time management</a:t>
            </a:r>
            <a:r>
              <a:rPr lang="en-US" sz="2400" dirty="0" smtClean="0"/>
              <a:t>.</a:t>
            </a:r>
          </a:p>
          <a:p>
            <a:pPr marL="569913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Support to train </a:t>
            </a:r>
            <a:r>
              <a:rPr lang="en-US" sz="2400" dirty="0"/>
              <a:t>new members join to project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19641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/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" b="32"/>
          <a:stretch>
            <a:fillRect/>
          </a:stretch>
        </p:blipFill>
        <p:spPr/>
      </p:pic>
      <p:sp>
        <p:nvSpPr>
          <p:cNvPr id="3" name="Textplatzhalter 2"/>
          <p:cNvSpPr>
            <a:spLocks noGrp="1"/>
          </p:cNvSpPr>
          <p:nvPr>
            <p:ph type="body" sz="quarter" idx="11"/>
          </p:nvPr>
        </p:nvSpPr>
        <p:spPr>
          <a:xfrm>
            <a:off x="468000" y="1080001"/>
            <a:ext cx="7920000" cy="917513"/>
          </a:xfrm>
        </p:spPr>
        <p:txBody>
          <a:bodyPr/>
          <a:lstStyle/>
          <a:p>
            <a:r>
              <a:rPr lang="en-US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3372854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51021_Renesas_Templates_16_9_EN_conf_RVC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Renesas_fonts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2" id="{23027CC0-E0AE-4831-839B-2A054B8942D5}" vid="{7A092532-8C16-4104-92EA-537B4E973A3C}"/>
    </a:ext>
  </a:extLst>
</a:theme>
</file>

<file path=ppt/theme/theme2.xml><?xml version="1.0" encoding="utf-8"?>
<a:theme xmlns:a="http://schemas.openxmlformats.org/drawingml/2006/main" name="Theme1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7074B6E-E2FB-4F1B-BFCA-5C5F6253BF39}" vid="{14B25424-866B-4E9B-820E-135B3E881C03}"/>
    </a:ext>
  </a:extLst>
</a:theme>
</file>

<file path=ppt/theme/theme3.xml><?xml version="1.0" encoding="utf-8"?>
<a:theme xmlns:a="http://schemas.openxmlformats.org/drawingml/2006/main" name="1_151229_Renesas_Templates_16_9_EN">
  <a:themeElements>
    <a:clrScheme name="Renesas_colors">
      <a:dk1>
        <a:srgbClr val="3C3C3B"/>
      </a:dk1>
      <a:lt1>
        <a:sysClr val="window" lastClr="FFFFFF"/>
      </a:lt1>
      <a:dk2>
        <a:srgbClr val="06418C"/>
      </a:dk2>
      <a:lt2>
        <a:srgbClr val="F2F2F2"/>
      </a:lt2>
      <a:accent1>
        <a:srgbClr val="4471A9"/>
      </a:accent1>
      <a:accent2>
        <a:srgbClr val="D70000"/>
      </a:accent2>
      <a:accent3>
        <a:srgbClr val="FFC800"/>
      </a:accent3>
      <a:accent4>
        <a:srgbClr val="669933"/>
      </a:accent4>
      <a:accent5>
        <a:srgbClr val="993399"/>
      </a:accent5>
      <a:accent6>
        <a:srgbClr val="9D9D9D"/>
      </a:accent6>
      <a:hlink>
        <a:srgbClr val="06418C"/>
      </a:hlink>
      <a:folHlink>
        <a:srgbClr val="993399"/>
      </a:folHlink>
    </a:clrScheme>
    <a:fontScheme name="ユーザー定義 1">
      <a:majorFont>
        <a:latin typeface="Arial Narrow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" id="{54147FB1-DAE6-4AE8-976A-1D9502EBCD93}" vid="{D1F8C949-6990-4F7E-A752-F27DA72DB7FA}"/>
    </a:ext>
  </a:extLst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151021_Renesas_Templates_16_9_EN_conf_RVC</Template>
  <TotalTime>62564</TotalTime>
  <Words>1819</Words>
  <Application>Microsoft Office PowerPoint</Application>
  <PresentationFormat>Widescreen</PresentationFormat>
  <Paragraphs>334</Paragraphs>
  <Slides>15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メイリオ</vt:lpstr>
      <vt:lpstr>Microsoft YaHei</vt:lpstr>
      <vt:lpstr>ＭＳ Ｐゴシック</vt:lpstr>
      <vt:lpstr>Arial</vt:lpstr>
      <vt:lpstr>Arial Narrow</vt:lpstr>
      <vt:lpstr>Calibri</vt:lpstr>
      <vt:lpstr>Courier New</vt:lpstr>
      <vt:lpstr>Symbol</vt:lpstr>
      <vt:lpstr>Times New Roman</vt:lpstr>
      <vt:lpstr>Wingdings</vt:lpstr>
      <vt:lpstr>151021_Renesas_Templates_16_9_EN_conf_RVC</vt:lpstr>
      <vt:lpstr>Theme1</vt:lpstr>
      <vt:lpstr>1_151229_Renesas_Templates_16_9_EN</vt:lpstr>
      <vt:lpstr>PowerPoint Presentation</vt:lpstr>
      <vt:lpstr>Agenda</vt:lpstr>
      <vt:lpstr>Training Target(1/2)</vt:lpstr>
      <vt:lpstr>Training Target(2/2)</vt:lpstr>
      <vt:lpstr>Current Status</vt:lpstr>
      <vt:lpstr>Gaps Analysis and Solution(1/2)</vt:lpstr>
      <vt:lpstr>Gaps Analysis and Solution(2/2)</vt:lpstr>
      <vt:lpstr>Training Plan – TestiNG SKILL</vt:lpstr>
      <vt:lpstr>Training Plan – Testing skill</vt:lpstr>
      <vt:lpstr>Training Plan – testing skill</vt:lpstr>
      <vt:lpstr>Training Plan – common skill</vt:lpstr>
      <vt:lpstr>Training Plan – common skill</vt:lpstr>
      <vt:lpstr>Training Plan – Common skill</vt:lpstr>
      <vt:lpstr>Commitment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Hieu Trung. Tran</dc:creator>
  <cp:lastModifiedBy>Nhi Yen. Cao</cp:lastModifiedBy>
  <cp:revision>470</cp:revision>
  <dcterms:created xsi:type="dcterms:W3CDTF">2016-06-23T01:54:16Z</dcterms:created>
  <dcterms:modified xsi:type="dcterms:W3CDTF">2017-06-28T03:20:40Z</dcterms:modified>
</cp:coreProperties>
</file>