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2" r:id="rId1"/>
    <p:sldMasterId id="2147483771" r:id="rId2"/>
    <p:sldMasterId id="2147483791" r:id="rId3"/>
  </p:sldMasterIdLst>
  <p:notesMasterIdLst>
    <p:notesMasterId r:id="rId14"/>
  </p:notesMasterIdLst>
  <p:sldIdLst>
    <p:sldId id="406" r:id="rId4"/>
    <p:sldId id="385" r:id="rId5"/>
    <p:sldId id="390" r:id="rId6"/>
    <p:sldId id="396" r:id="rId7"/>
    <p:sldId id="391" r:id="rId8"/>
    <p:sldId id="392" r:id="rId9"/>
    <p:sldId id="399" r:id="rId10"/>
    <p:sldId id="402" r:id="rId11"/>
    <p:sldId id="394" r:id="rId12"/>
    <p:sldId id="363" r:id="rId13"/>
  </p:sldIdLst>
  <p:sldSz cx="12192000" cy="6858000"/>
  <p:notesSz cx="9144000" cy="6858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3976" userDrawn="1">
          <p15:clr>
            <a:srgbClr val="A4A3A4"/>
          </p15:clr>
        </p15:guide>
        <p15:guide id="3" orient="horz" pos="2472" userDrawn="1">
          <p15:clr>
            <a:srgbClr val="A4A3A4"/>
          </p15:clr>
        </p15:guide>
        <p15:guide id="4" orient="horz" pos="138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94" autoAdjust="0"/>
    <p:restoredTop sz="96984" autoAdjust="0"/>
  </p:normalViewPr>
  <p:slideViewPr>
    <p:cSldViewPr showGuides="1">
      <p:cViewPr varScale="1">
        <p:scale>
          <a:sx n="68" d="100"/>
          <a:sy n="68" d="100"/>
        </p:scale>
        <p:origin x="558" y="60"/>
      </p:cViewPr>
      <p:guideLst>
        <p:guide orient="horz"/>
        <p:guide pos="3976"/>
        <p:guide orient="horz" pos="2472"/>
        <p:guide orient="horz" pos="1389"/>
      </p:guideLst>
    </p:cSldViewPr>
  </p:slideViewPr>
  <p:outlineViewPr>
    <p:cViewPr>
      <p:scale>
        <a:sx n="33" d="100"/>
        <a:sy n="33" d="100"/>
      </p:scale>
      <p:origin x="0" y="-179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6" d="100"/>
        <a:sy n="7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7C3E4-834A-4FDE-8876-3ED4986C368E}" type="datetimeFigureOut">
              <a:rPr lang="en-US" smtClean="0"/>
              <a:t>6/20/2017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5D16B-934A-4DDA-AA9D-F9317AC24A5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922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161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Arial Narrow" panose="020B0606020202030204" pitchFamily="34" charset="0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Arial Narrow" panose="020B0606020202030204" pitchFamily="34" charset="0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040860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603905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479376" y="1280513"/>
            <a:ext cx="11233248" cy="307777"/>
          </a:xfrm>
          <a:ln>
            <a:noFill/>
          </a:ln>
        </p:spPr>
        <p:txBody>
          <a:bodyPr wrap="square">
            <a:spAutoFit/>
          </a:bodyPr>
          <a:lstStyle>
            <a:lvl1pPr marL="228600" indent="-228600">
              <a:spcAft>
                <a:spcPts val="1800"/>
              </a:spcAft>
              <a:buClrTx/>
              <a:buSzPct val="80000"/>
              <a:buFont typeface="Wingdings" panose="05000000000000000000" pitchFamily="2" charset="2"/>
              <a:buChar char="q"/>
              <a:tabLst>
                <a:tab pos="6637338" algn="r"/>
              </a:tabLst>
              <a:defRPr sz="20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5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90676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7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11231197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78730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294736" y="1268761"/>
            <a:ext cx="5412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81427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81427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19798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268760"/>
            <a:ext cx="5400000" cy="477924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24560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268761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268761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814276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814276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9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65937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336360" y="1268761"/>
            <a:ext cx="2363640" cy="800219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479376" y="1268760"/>
            <a:ext cx="8700624" cy="477924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465637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´Text +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240016" y="1268760"/>
            <a:ext cx="5459984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9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2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85147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321000" y="1268760"/>
            <a:ext cx="5400600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479376" y="1268760"/>
            <a:ext cx="5400600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2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25075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Graph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479376" y="1268760"/>
            <a:ext cx="8700624" cy="449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480376" y="1268760"/>
            <a:ext cx="2232248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4114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2" y="5940001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39751"/>
            <a:ext cx="11252200" cy="1661993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 dirty="0"/>
          </a:p>
        </p:txBody>
      </p:sp>
      <p:sp>
        <p:nvSpPr>
          <p:cNvPr id="7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9605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 Graph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479376" y="1268761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768408" y="1268760"/>
            <a:ext cx="1931592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479376" y="3882994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3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5135776" y="1268761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4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135776" y="3882994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6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96387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408368" y="1268760"/>
            <a:ext cx="2291632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479378" y="1268760"/>
            <a:ext cx="8700621" cy="307777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44658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0410108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067512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484762"/>
            <a:ext cx="5280000" cy="2769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5295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 + grey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8000" y="0"/>
            <a:ext cx="11253600" cy="6156000"/>
          </a:xfrm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pic>
        <p:nvPicPr>
          <p:cNvPr id="5" name="Bild 4" descr="Badge_grey.png" hidden="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432" y="0"/>
            <a:ext cx="1419800" cy="1275442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 baseline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5216270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grey +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>
                <a:solidFill>
                  <a:srgbClr val="BFBEBE"/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822896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9376" y="-22588"/>
            <a:ext cx="8520000" cy="886397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295466"/>
          </a:xfrm>
          <a:ln>
            <a:noFill/>
          </a:ln>
        </p:spPr>
        <p:txBody>
          <a:bodyPr>
            <a:spAutoFit/>
          </a:bodyPr>
          <a:lstStyle>
            <a:lvl1pPr marL="177800" indent="-177800">
              <a:spcAft>
                <a:spcPts val="18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tabLst>
                <a:tab pos="7177088" algn="r"/>
              </a:tabLst>
              <a:defRPr sz="16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6053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9376" y="36717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1887696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7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1650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30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81427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0078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5400000" cy="424800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72554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65801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1080000" y="1800000"/>
            <a:ext cx="8100000" cy="424800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0166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8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630880331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996863812"/>
      </p:ext>
    </p:extLst>
  </p:cSld>
  <p:clrMapOvr>
    <a:masterClrMapping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Chart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8100000" cy="406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331527288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0" y="5940000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40000"/>
            <a:ext cx="11261725" cy="5302000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999830162"/>
      </p:ext>
    </p:extLst>
  </p:cSld>
  <p:clrMapOvr>
    <a:masterClrMapping/>
  </p:clrMapOvr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 Chart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5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522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6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108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7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22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695790233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1079997" y="1800000"/>
            <a:ext cx="8100000" cy="4248000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7956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blipFill>
            <a:blip r:embed="rId2"/>
            <a:stretch>
              <a:fillRect/>
            </a:stretch>
          </a:blipFill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674306011"/>
      </p:ext>
    </p:extLst>
  </p:cSld>
  <p:clrMapOvr>
    <a:masterClrMapping/>
  </p:clrMapOvr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79376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4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sp>
        <p:nvSpPr>
          <p:cNvPr id="7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661710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800000"/>
            <a:ext cx="5280000" cy="3323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"/>
          <p:cNvSpPr txBox="1"/>
          <p:nvPr/>
        </p:nvSpPr>
        <p:spPr>
          <a:xfrm>
            <a:off x="1080000" y="1483200"/>
            <a:ext cx="5088008" cy="3693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ja-JP" b="1" dirty="0">
                <a:solidFill>
                  <a:schemeClr val="bg1"/>
                </a:solidFill>
                <a:latin typeface="+mj-ea"/>
                <a:ea typeface="+mj-ea"/>
              </a:rPr>
              <a:t>BIG</a:t>
            </a:r>
            <a:r>
              <a:rPr kumimoji="1" lang="en-US" altLang="ja-JP" b="1" baseline="0" dirty="0">
                <a:solidFill>
                  <a:schemeClr val="bg1"/>
                </a:solidFill>
                <a:latin typeface="+mj-ea"/>
                <a:ea typeface="+mj-ea"/>
              </a:rPr>
              <a:t> IDEAS FOR EVERY SPACE</a:t>
            </a:r>
            <a:endParaRPr kumimoji="1" lang="ja-JP" altLang="en-US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0" name="Gerade Verbindung 7"/>
          <p:cNvCxnSpPr/>
          <p:nvPr userDrawn="1"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67063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5889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8766614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 + grey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8000" y="0"/>
            <a:ext cx="11253600" cy="6156000"/>
          </a:xfrm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pic>
        <p:nvPicPr>
          <p:cNvPr id="5" name="Bild 4" descr="Badge_grey.png" hidden="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432" y="0"/>
            <a:ext cx="1419800" cy="1275442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 baseline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017043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grey +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>
                <a:solidFill>
                  <a:srgbClr val="BFBEBE"/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5435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295466"/>
          </a:xfrm>
          <a:ln>
            <a:noFill/>
          </a:ln>
        </p:spPr>
        <p:txBody>
          <a:bodyPr>
            <a:spAutoFit/>
          </a:bodyPr>
          <a:lstStyle>
            <a:lvl1pPr marL="177800" indent="-177800">
              <a:spcAft>
                <a:spcPts val="18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tabLst>
                <a:tab pos="7177088" algn="r"/>
              </a:tabLst>
              <a:defRPr sz="16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2151592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1887696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79683755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30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2936657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5400000" cy="424800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47325871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76849048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1080000" y="1800000"/>
            <a:ext cx="8100000" cy="424800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96731598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8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75759831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28311212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Chart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8100000" cy="406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36764441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0" y="5940000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40000"/>
            <a:ext cx="11261725" cy="5302000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408634758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 Chart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5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522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6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108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7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22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02562760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1079997" y="1800000"/>
            <a:ext cx="8100000" cy="4248000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2906436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blipFill>
            <a:blip r:embed="rId2"/>
            <a:stretch>
              <a:fillRect/>
            </a:stretch>
          </a:blipFill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72067178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79376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4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67691845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800000"/>
            <a:ext cx="5280000" cy="3323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"/>
          <p:cNvSpPr txBox="1"/>
          <p:nvPr/>
        </p:nvSpPr>
        <p:spPr>
          <a:xfrm>
            <a:off x="1080000" y="1483200"/>
            <a:ext cx="5088008" cy="3693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ja-JP" b="1" dirty="0">
                <a:solidFill>
                  <a:schemeClr val="bg1"/>
                </a:solidFill>
                <a:latin typeface="+mj-ea"/>
                <a:ea typeface="+mj-ea"/>
              </a:rPr>
              <a:t>BIG</a:t>
            </a:r>
            <a:r>
              <a:rPr kumimoji="1" lang="en-US" altLang="ja-JP" b="1" baseline="0" dirty="0">
                <a:solidFill>
                  <a:schemeClr val="bg1"/>
                </a:solidFill>
                <a:latin typeface="+mj-ea"/>
                <a:ea typeface="+mj-ea"/>
              </a:rPr>
              <a:t> IDEAS FOR EVERY SPACE</a:t>
            </a:r>
            <a:endParaRPr kumimoji="1" lang="ja-JP" altLang="en-US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9994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gi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20.xml"/><Relationship Id="rId21" Type="http://schemas.openxmlformats.org/officeDocument/2006/relationships/image" Target="../media/image1.gif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1.gif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79376" y="445076"/>
            <a:ext cx="11242224" cy="44319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 smtClean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79376" y="1309075"/>
            <a:ext cx="11240598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de-DE" dirty="0" smtClean="0"/>
              <a:t>Textmasterformat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en-US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2" y="6542446"/>
            <a:ext cx="2792431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i="0" u="none" strike="noStrike" kern="1200" baseline="0" dirty="0" smtClean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2016 Renesas Design Vietnam Co., Ltd.. All rights reserved. </a:t>
            </a:r>
            <a:endParaRPr lang="en-US" sz="9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/>
          <p:cNvSpPr/>
          <p:nvPr/>
        </p:nvSpPr>
        <p:spPr>
          <a:xfrm>
            <a:off x="3412772" y="6503890"/>
            <a:ext cx="1531100" cy="2017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 anchorCtr="0">
            <a:no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b="1" i="0" u="none" strike="noStrike" kern="1200" baseline="0" dirty="0" smtClean="0">
                <a:solidFill>
                  <a:schemeClr val="bg1"/>
                </a:solidFill>
                <a:latin typeface="+mj-lt"/>
                <a:ea typeface="+mn-ea"/>
                <a:cs typeface="+mn-cs"/>
              </a:rPr>
              <a:t>RENESAS CONFIDENTIAL</a:t>
            </a:r>
            <a:endParaRPr lang="en-US" sz="1050" b="1" dirty="0">
              <a:latin typeface="+mj-lt"/>
            </a:endParaRPr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226" y="6452761"/>
            <a:ext cx="1773748" cy="302481"/>
          </a:xfrm>
          <a:prstGeom prst="rect">
            <a:avLst/>
          </a:prstGeom>
        </p:spPr>
      </p:pic>
      <p:sp>
        <p:nvSpPr>
          <p:cNvPr id="11" name="Foliennummernplatzhalter 2"/>
          <p:cNvSpPr>
            <a:spLocks noGrp="1"/>
          </p:cNvSpPr>
          <p:nvPr>
            <p:ph type="sldNum" sz="quarter" idx="4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47212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9" r:id="rId9"/>
    <p:sldLayoutId id="2147483761" r:id="rId10"/>
    <p:sldLayoutId id="2147483762" r:id="rId11"/>
    <p:sldLayoutId id="2147483770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none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7013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SzPct val="80000"/>
        <a:buFont typeface="Wingdings" panose="05000000000000000000" pitchFamily="2" charset="2"/>
        <a:buChar char="q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Courier New" panose="02070309020205020404" pitchFamily="49" charset="0"/>
        <a:buChar char="o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80000" y="492801"/>
            <a:ext cx="8520000" cy="88639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80000" y="1800000"/>
            <a:ext cx="9120000" cy="1887696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5760000" y="6509924"/>
            <a:ext cx="672075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0" y="6544800"/>
            <a:ext cx="245419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i="0" u="none" strike="noStrike" kern="120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2017 Renesas Electronics Corporation. All rights reserved. </a:t>
            </a:r>
            <a:endParaRPr lang="en-US" sz="8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852" y="6440061"/>
            <a:ext cx="1773748" cy="301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3" r:id="rId2"/>
    <p:sldLayoutId id="2147483774" r:id="rId3"/>
    <p:sldLayoutId id="2147483775" r:id="rId4"/>
    <p:sldLayoutId id="2147483776" r:id="rId5"/>
    <p:sldLayoutId id="2147483777" r:id="rId6"/>
    <p:sldLayoutId id="2147483778" r:id="rId7"/>
    <p:sldLayoutId id="2147483779" r:id="rId8"/>
    <p:sldLayoutId id="2147483780" r:id="rId9"/>
    <p:sldLayoutId id="2147483781" r:id="rId10"/>
    <p:sldLayoutId id="2147483782" r:id="rId11"/>
    <p:sldLayoutId id="2147483783" r:id="rId12"/>
    <p:sldLayoutId id="2147483784" r:id="rId13"/>
    <p:sldLayoutId id="2147483785" r:id="rId14"/>
    <p:sldLayoutId id="2147483786" r:id="rId15"/>
    <p:sldLayoutId id="2147483787" r:id="rId16"/>
    <p:sldLayoutId id="2147483788" r:id="rId17"/>
    <p:sldLayoutId id="2147483789" r:id="rId18"/>
    <p:sldLayoutId id="214748379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78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80000" y="492801"/>
            <a:ext cx="8520000" cy="88639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80000" y="1800000"/>
            <a:ext cx="9120000" cy="1887696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5760000" y="6509924"/>
            <a:ext cx="672075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0" y="6544800"/>
            <a:ext cx="245419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i="0" u="none" strike="noStrike" kern="120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2017 Renesas Electronics Corporation. All rights reserved. </a:t>
            </a:r>
            <a:endParaRPr lang="en-US" sz="8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852" y="6440061"/>
            <a:ext cx="1773748" cy="301308"/>
          </a:xfrm>
          <a:prstGeom prst="rect">
            <a:avLst/>
          </a:prstGeom>
        </p:spPr>
      </p:pic>
      <p:sp>
        <p:nvSpPr>
          <p:cNvPr id="10" name="Rechteck 9"/>
          <p:cNvSpPr/>
          <p:nvPr/>
        </p:nvSpPr>
        <p:spPr>
          <a:xfrm>
            <a:off x="2999656" y="6489860"/>
            <a:ext cx="1531100" cy="2017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 anchorCtr="0">
            <a:no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b="1" i="0" u="none" strike="noStrike" kern="1200" baseline="0" dirty="0">
                <a:solidFill>
                  <a:schemeClr val="bg1"/>
                </a:solidFill>
                <a:latin typeface="+mj-lt"/>
                <a:ea typeface="+mn-ea"/>
                <a:cs typeface="+mn-cs"/>
              </a:rPr>
              <a:t>RENESAS CONFIDENTIAL</a:t>
            </a:r>
            <a:endParaRPr lang="en-US" sz="105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4618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  <p:sldLayoutId id="2147483804" r:id="rId13"/>
    <p:sldLayoutId id="2147483805" r:id="rId14"/>
    <p:sldLayoutId id="2147483806" r:id="rId15"/>
    <p:sldLayoutId id="2147483807" r:id="rId16"/>
    <p:sldLayoutId id="214748380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78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-1"/>
            <a:ext cx="11277600" cy="6172201"/>
          </a:xfrm>
          <a:prstGeom prst="rect">
            <a:avLst/>
          </a:prstGeom>
        </p:spPr>
      </p:pic>
      <p:sp>
        <p:nvSpPr>
          <p:cNvPr id="2" name="Textplatzhalter 1"/>
          <p:cNvSpPr>
            <a:spLocks noGrp="1"/>
          </p:cNvSpPr>
          <p:nvPr>
            <p:ph type="body" sz="quarter" idx="11"/>
          </p:nvPr>
        </p:nvSpPr>
        <p:spPr>
          <a:xfrm>
            <a:off x="1080000" y="-1"/>
            <a:ext cx="5778000" cy="2592000"/>
          </a:xfrm>
        </p:spPr>
        <p:txBody>
          <a:bodyPr/>
          <a:lstStyle/>
          <a:p>
            <a:r>
              <a:rPr lang="en-US" altLang="ja-JP" dirty="0"/>
              <a:t>25G MENTOR-MENTEE</a:t>
            </a:r>
          </a:p>
          <a:p>
            <a:r>
              <a:rPr lang="en-US" altLang="ja-JP" dirty="0"/>
              <a:t>TRAINING PLAN</a:t>
            </a:r>
          </a:p>
          <a:p>
            <a:pPr lvl="1"/>
            <a:r>
              <a:rPr lang="en-US" altLang="ja-JP" dirty="0" smtClean="0"/>
              <a:t>June </a:t>
            </a:r>
            <a:r>
              <a:rPr lang="en-US" altLang="ja-JP" dirty="0"/>
              <a:t>2017 – </a:t>
            </a:r>
            <a:r>
              <a:rPr lang="en-US" altLang="ja-JP" dirty="0" smtClean="0"/>
              <a:t>June 2019</a:t>
            </a:r>
            <a:endParaRPr lang="en-US" altLang="ja-JP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778000" cy="1840843"/>
          </a:xfrm>
        </p:spPr>
        <p:txBody>
          <a:bodyPr/>
          <a:lstStyle/>
          <a:p>
            <a:r>
              <a:rPr lang="en-US" dirty="0"/>
              <a:t>Date: </a:t>
            </a:r>
            <a:r>
              <a:rPr lang="en-US" dirty="0" smtClean="0"/>
              <a:t>June </a:t>
            </a:r>
            <a:r>
              <a:rPr lang="en-US" dirty="0"/>
              <a:t>28, 2017</a:t>
            </a:r>
          </a:p>
          <a:p>
            <a:r>
              <a:rPr lang="en-US" dirty="0"/>
              <a:t>Mentee: </a:t>
            </a:r>
            <a:r>
              <a:rPr lang="en-US" dirty="0" err="1" smtClean="0"/>
              <a:t>Nhi</a:t>
            </a:r>
            <a:r>
              <a:rPr lang="en-US" dirty="0" smtClean="0"/>
              <a:t> Cao </a:t>
            </a:r>
            <a:r>
              <a:rPr lang="en-US" dirty="0" smtClean="0"/>
              <a:t>(1991)</a:t>
            </a:r>
            <a:endParaRPr lang="en-US" dirty="0"/>
          </a:p>
          <a:p>
            <a:r>
              <a:rPr lang="en-US" dirty="0"/>
              <a:t>Mentor:  </a:t>
            </a:r>
            <a:r>
              <a:rPr lang="en-US" dirty="0" smtClean="0"/>
              <a:t>Thuy Tran</a:t>
            </a:r>
            <a:r>
              <a:rPr lang="en-US" dirty="0" smtClean="0"/>
              <a:t> ()</a:t>
            </a:r>
            <a:endParaRPr lang="en-US" dirty="0"/>
          </a:p>
          <a:p>
            <a:r>
              <a:rPr lang="en-US" dirty="0"/>
              <a:t>Software Tool Solution </a:t>
            </a:r>
            <a:r>
              <a:rPr lang="en-US" dirty="0" smtClean="0"/>
              <a:t>1 </a:t>
            </a:r>
            <a:r>
              <a:rPr lang="en-US" dirty="0"/>
              <a:t>Group</a:t>
            </a:r>
          </a:p>
          <a:p>
            <a:r>
              <a:rPr lang="en-US" dirty="0"/>
              <a:t>Software Engineer Division</a:t>
            </a:r>
          </a:p>
          <a:p>
            <a:r>
              <a:rPr lang="en-US" dirty="0" err="1"/>
              <a:t>Renesas</a:t>
            </a:r>
            <a:r>
              <a:rPr lang="en-US" dirty="0"/>
              <a:t> Design Vietnam Co., Ltd.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600" y="4898026"/>
            <a:ext cx="1414395" cy="127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72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idx="1"/>
          </p:nvPr>
        </p:nvSpPr>
        <p:spPr>
          <a:xfrm>
            <a:off x="479376" y="1280513"/>
            <a:ext cx="11233248" cy="2462213"/>
          </a:xfrm>
        </p:spPr>
        <p:txBody>
          <a:bodyPr/>
          <a:lstStyle/>
          <a:p>
            <a:r>
              <a:rPr lang="de-DE" dirty="0"/>
              <a:t>Training T</a:t>
            </a:r>
            <a:r>
              <a:rPr lang="de-DE" dirty="0" smtClean="0"/>
              <a:t>arget	Page 03</a:t>
            </a:r>
          </a:p>
          <a:p>
            <a:r>
              <a:rPr lang="de-DE" dirty="0"/>
              <a:t>Current </a:t>
            </a:r>
            <a:r>
              <a:rPr lang="de-DE" dirty="0" smtClean="0"/>
              <a:t>Status	Page 05</a:t>
            </a:r>
          </a:p>
          <a:p>
            <a:r>
              <a:rPr lang="de-DE" dirty="0"/>
              <a:t>Gaps Analysis and Solution</a:t>
            </a:r>
            <a:r>
              <a:rPr lang="de-DE" dirty="0" smtClean="0"/>
              <a:t>	Page </a:t>
            </a:r>
            <a:r>
              <a:rPr lang="de-DE" dirty="0" smtClean="0"/>
              <a:t>06</a:t>
            </a:r>
            <a:endParaRPr lang="de-DE" dirty="0" smtClean="0"/>
          </a:p>
          <a:p>
            <a:r>
              <a:rPr lang="de-DE" dirty="0"/>
              <a:t>Training </a:t>
            </a:r>
            <a:r>
              <a:rPr lang="de-DE" dirty="0" smtClean="0"/>
              <a:t>Plan</a:t>
            </a:r>
            <a:r>
              <a:rPr lang="de-DE" dirty="0" smtClean="0"/>
              <a:t> </a:t>
            </a:r>
            <a:r>
              <a:rPr lang="de-DE" dirty="0" smtClean="0"/>
              <a:t>                                                                                        Page 0</a:t>
            </a:r>
            <a:r>
              <a:rPr lang="de-DE" dirty="0" smtClean="0"/>
              <a:t>8</a:t>
            </a:r>
            <a:endParaRPr lang="de-DE" dirty="0" smtClean="0"/>
          </a:p>
          <a:p>
            <a:r>
              <a:rPr lang="de-DE" dirty="0"/>
              <a:t>Commitment </a:t>
            </a:r>
            <a:r>
              <a:rPr lang="de-DE" dirty="0" smtClean="0"/>
              <a:t>	</a:t>
            </a:r>
            <a:r>
              <a:rPr lang="de-DE" dirty="0" smtClean="0"/>
              <a:t> Page </a:t>
            </a:r>
            <a:r>
              <a:rPr lang="de-DE" dirty="0" smtClean="0"/>
              <a:t>09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2503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Target(1/2)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Text Placeholder 5"/>
          <p:cNvSpPr>
            <a:spLocks noGrp="1"/>
          </p:cNvSpPr>
          <p:nvPr>
            <p:ph idx="1"/>
          </p:nvPr>
        </p:nvSpPr>
        <p:spPr>
          <a:xfrm>
            <a:off x="960803" y="1152226"/>
            <a:ext cx="11231197" cy="1489639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Target: Achieve role </a:t>
            </a:r>
            <a:r>
              <a:rPr lang="en-US" altLang="en-US" b="1" dirty="0" smtClean="0">
                <a:solidFill>
                  <a:srgbClr val="000000"/>
                </a:solidFill>
              </a:rPr>
              <a:t>Level </a:t>
            </a:r>
            <a:r>
              <a:rPr lang="en-US" altLang="en-US" b="1" dirty="0">
                <a:solidFill>
                  <a:srgbClr val="000000"/>
                </a:solidFill>
              </a:rPr>
              <a:t>2 of Engineer for test validation (software) by April, 2017</a:t>
            </a:r>
          </a:p>
          <a:p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   </a:t>
            </a:r>
            <a:r>
              <a:rPr lang="en-US" altLang="en-US" b="1" dirty="0" smtClean="0">
                <a:solidFill>
                  <a:srgbClr val="000000"/>
                </a:solidFill>
                <a:ea typeface="Microsoft YaHei" panose="020B0503020204020204" pitchFamily="34" charset="-122"/>
              </a:rPr>
              <a:t>         Can </a:t>
            </a:r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do the work without support, if it is within certain degree of difficulty</a:t>
            </a:r>
          </a:p>
          <a:p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 → Ability to do CS+/e2 studio verification without support.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576926"/>
              </p:ext>
            </p:extLst>
          </p:nvPr>
        </p:nvGraphicFramePr>
        <p:xfrm>
          <a:off x="228637" y="2362200"/>
          <a:ext cx="11734800" cy="3797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905000"/>
                <a:gridCol w="7010400"/>
                <a:gridCol w="1524000"/>
              </a:tblGrid>
              <a:tr h="366729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Role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Skill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Target Level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573731">
                <a:tc rowSpan="5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Engineer for test validation (software</a:t>
                      </a:r>
                      <a:r>
                        <a:rPr kumimoji="0" lang="en-US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)</a:t>
                      </a:r>
                      <a:endParaRPr kumimoji="0" 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Microsoft YaHei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 item extraction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-Extract test items from various specifications and design specifications. 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-Round up and integrate the extracted test items into test specifications.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Level 2</a:t>
                      </a:r>
                      <a:endParaRPr lang="en-US" sz="1500" dirty="0"/>
                    </a:p>
                  </a:txBody>
                  <a:tcPr anchor="ctr"/>
                </a:tc>
              </a:tr>
              <a:tr h="57373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Testing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-Conduct tests according to the test specifications. 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-Round up the results of the tests and make a report.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812786">
                <a:tc vMerge="1">
                  <a:txBody>
                    <a:bodyPr/>
                    <a:lstStyle/>
                    <a:p>
                      <a:pPr algn="l"/>
                      <a:endParaRPr lang="en-US" sz="1500" b="1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Failure analysis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-Locate the cause of any trouble and make analysis of its influences and other side effects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-Find similar bugs</a:t>
                      </a:r>
                    </a:p>
                  </a:txBody>
                  <a:tcPr marL="90000" marR="90000" marT="57384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812786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 environment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construction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Have knowledge of the development environment (compiler, debugger) and target environment ( CS+, e2 studio and their plug-ins) and conduct tests and evaluations.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573731">
                <a:tc vMerge="1">
                  <a:txBody>
                    <a:bodyPr/>
                    <a:lstStyle/>
                    <a:p>
                      <a:pPr algn="ctr"/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Validity verification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Create system verification specifications from the use cases as viewed from the user application side and from the view point of uses such as high load environment, and conduct tests.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411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Target(2/2)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4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039789"/>
              </p:ext>
            </p:extLst>
          </p:nvPr>
        </p:nvGraphicFramePr>
        <p:xfrm>
          <a:off x="228600" y="1600200"/>
          <a:ext cx="11734800" cy="3998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550"/>
                <a:gridCol w="8096250"/>
              </a:tblGrid>
              <a:tr h="515426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Common Skill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Target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571831">
                <a:tc>
                  <a:txBody>
                    <a:bodyPr/>
                    <a:lstStyle/>
                    <a:p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Process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Understand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and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follow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Development process.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 feedback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by looking at result of work.</a:t>
                      </a:r>
                    </a:p>
                  </a:txBody>
                  <a:tcPr anchor="ctr"/>
                </a:tc>
              </a:tr>
              <a:tr h="544279">
                <a:tc>
                  <a:txBody>
                    <a:bodyPr/>
                    <a:lstStyle/>
                    <a:p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Communication</a:t>
                      </a:r>
                      <a:endParaRPr kumimoji="1" lang="en-US" sz="1500" b="0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express idea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to others.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report status/issues/solutions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 leaders. </a:t>
                      </a:r>
                    </a:p>
                  </a:txBody>
                  <a:tcPr anchor="ctr"/>
                </a:tc>
              </a:tr>
              <a:tr h="771061">
                <a:tc>
                  <a:txBody>
                    <a:bodyPr/>
                    <a:lstStyle/>
                    <a:p>
                      <a:pPr algn="l"/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Management 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schedule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works and follow the schedule.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manage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common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risk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for assigned tasks: private issues (health,…),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technical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issues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(lack of experience in assigned fields),… </a:t>
                      </a:r>
                    </a:p>
                  </a:txBody>
                  <a:tcPr anchor="ctr"/>
                </a:tc>
              </a:tr>
              <a:tr h="528401">
                <a:tc>
                  <a:txBody>
                    <a:bodyPr/>
                    <a:lstStyle/>
                    <a:p>
                      <a:pPr algn="l"/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TOEIC 700</a:t>
                      </a:r>
                      <a:endParaRPr kumimoji="1" lang="en-US" sz="1500" b="0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528401">
                <a:tc>
                  <a:txBody>
                    <a:bodyPr/>
                    <a:lstStyle/>
                    <a:p>
                      <a:pPr algn="l"/>
                      <a:endParaRPr kumimoji="1" lang="en-US" sz="1500" b="1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kumimoji="1" lang="en-US" sz="15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528401">
                <a:tc>
                  <a:txBody>
                    <a:bodyPr/>
                    <a:lstStyle/>
                    <a:p>
                      <a:pPr algn="l"/>
                      <a:endParaRPr kumimoji="1" lang="en-US" sz="1500" b="1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kumimoji="1" lang="en-US" sz="15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001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Status(1/2)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5</a:t>
            </a:fld>
            <a:endParaRPr lang="de-DE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555783"/>
              </p:ext>
            </p:extLst>
          </p:nvPr>
        </p:nvGraphicFramePr>
        <p:xfrm>
          <a:off x="479377" y="1008730"/>
          <a:ext cx="11255423" cy="44660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481"/>
                <a:gridCol w="1827179"/>
                <a:gridCol w="6724019"/>
                <a:gridCol w="1461744"/>
              </a:tblGrid>
              <a:tr h="532396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Role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Skill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Current status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Current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Level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1036531">
                <a:tc row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Engineer for test validation (software</a:t>
                      </a:r>
                      <a:r>
                        <a:rPr kumimoji="0" lang="en-US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)</a:t>
                      </a:r>
                    </a:p>
                    <a:p>
                      <a:pPr algn="ctr"/>
                      <a:endParaRPr lang="en-US" sz="1500" b="1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item extraction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only understand simple specification.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create basic Test cases only.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Level 1</a:t>
                      </a:r>
                      <a:endParaRPr lang="en-US" sz="1500" dirty="0"/>
                    </a:p>
                  </a:txBody>
                  <a:tcPr anchor="ctr"/>
                </a:tc>
              </a:tr>
              <a:tr h="1005636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conduct test for simple module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Not good at testing procedure, report, evaluation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.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754227">
                <a:tc vMerge="1">
                  <a:txBody>
                    <a:bodyPr/>
                    <a:lstStyle/>
                    <a:p>
                      <a:pPr algn="ctr"/>
                      <a:endParaRPr lang="en-US" sz="15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Failure analysis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only detect simple bugs, cannot find out the root causes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561973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environment construction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set up simple environment only.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Need support from Mentor to set-up complex environment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547741">
                <a:tc vMerge="1">
                  <a:txBody>
                    <a:bodyPr/>
                    <a:lstStyle/>
                    <a:p>
                      <a:pPr algn="ctr"/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Validity verification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not do validity verification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Do not understand about the system verification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6874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Analysis and </a:t>
            </a:r>
            <a:r>
              <a:rPr lang="en-US" dirty="0" smtClean="0"/>
              <a:t>Solution(1/4)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6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353752"/>
              </p:ext>
            </p:extLst>
          </p:nvPr>
        </p:nvGraphicFramePr>
        <p:xfrm>
          <a:off x="457201" y="1066800"/>
          <a:ext cx="11277601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755"/>
                <a:gridCol w="2173099"/>
                <a:gridCol w="2098165"/>
                <a:gridCol w="3072312"/>
                <a:gridCol w="2510270"/>
              </a:tblGrid>
              <a:tr h="368389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Skill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Gap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Root</a:t>
                      </a:r>
                      <a:r>
                        <a:rPr lang="en-US" sz="1500" baseline="0" dirty="0" smtClean="0"/>
                        <a:t> Causes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Mentee’s action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Mentor’s action</a:t>
                      </a:r>
                    </a:p>
                  </a:txBody>
                  <a:tcPr anchor="ctr"/>
                </a:tc>
              </a:tr>
              <a:tr h="1912021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item extraction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Lack of knowledge about abnormal and boundary cases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-Investigate documents, analyze old test spec. for comprehension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-Create PCL based on test spec. and sample PCL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-Ask Mentor for confirm knowledge and unclear points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reference documents, sample PCL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to Mentee to investigate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and feedback</a:t>
                      </a:r>
                    </a:p>
                  </a:txBody>
                  <a:tcPr marT="54540" horzOverflow="overflow"/>
                </a:tc>
              </a:tr>
              <a:tr h="16057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Cannot do the complicated test case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6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-Self-conduct test according to created PCL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-Investigate the environment of testing before executing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guide for using environment of testing 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to Mentee to conduct test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and feedback</a:t>
                      </a:r>
                    </a:p>
                  </a:txBody>
                  <a:tcPr marT="54540" horzOverflow="overflow"/>
                </a:tc>
              </a:tr>
              <a:tr h="182880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/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Failure analysis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Cannot find the root causes of bugs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6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-Investigate old countermeasures report to know how to analyze bugs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-Investigate side effects to check for similar bugs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-Confirm output and unclear points with Mentor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sample report.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to Mentee to analyze failure efficiently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report and feedback</a:t>
                      </a:r>
                    </a:p>
                  </a:txBody>
                  <a:tcPr marT="54540" horzOverflow="overflow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272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Analysis and </a:t>
            </a:r>
            <a:r>
              <a:rPr lang="en-US" dirty="0" smtClean="0"/>
              <a:t>Solution(2/4)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7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385596"/>
              </p:ext>
            </p:extLst>
          </p:nvPr>
        </p:nvGraphicFramePr>
        <p:xfrm>
          <a:off x="479377" y="1345610"/>
          <a:ext cx="11242225" cy="4597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8445"/>
                <a:gridCol w="2248445"/>
                <a:gridCol w="2248445"/>
                <a:gridCol w="2248445"/>
                <a:gridCol w="2248445"/>
              </a:tblGrid>
              <a:tr h="346191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Skill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smtClean="0"/>
                        <a:t>Gap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smtClean="0"/>
                        <a:t>Root</a:t>
                      </a:r>
                      <a:r>
                        <a:rPr lang="en-US" sz="1600" baseline="0" smtClean="0"/>
                        <a:t> Causes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Mentee’s action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Mentor’s action</a:t>
                      </a:r>
                    </a:p>
                  </a:txBody>
                  <a:tcPr anchor="ctr"/>
                </a:tc>
              </a:tr>
              <a:tr h="2041037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Environment construction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Cannot set up environment which combine many plug-in inside 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600" baseline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-Take notes important steps to create environment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-Set-up environment based on Mentor's hints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Provice reference documents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Check output and feedback</a:t>
                      </a:r>
                    </a:p>
                  </a:txBody>
                  <a:tcPr marT="54540" horzOverflow="overflow"/>
                </a:tc>
              </a:tr>
              <a:tr h="2210763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Validity verification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Lack of knowledge about system validity 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-Investigate about the system using User manual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-Refer old test spec. to create sample test spec.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-Confirm output with Mentor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Provice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reference documents, sample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Check output and feedback</a:t>
                      </a:r>
                    </a:p>
                  </a:txBody>
                  <a:tcPr marT="54540" horzOverflow="overflow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992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0540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Commitment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7" name="Text Placeholder 5"/>
          <p:cNvSpPr>
            <a:spLocks noGrp="1"/>
          </p:cNvSpPr>
          <p:nvPr>
            <p:ph idx="1"/>
          </p:nvPr>
        </p:nvSpPr>
        <p:spPr>
          <a:xfrm>
            <a:off x="481426" y="1395442"/>
            <a:ext cx="11231197" cy="3069558"/>
          </a:xfrm>
        </p:spPr>
        <p:txBody>
          <a:bodyPr/>
          <a:lstStyle/>
          <a:p>
            <a:r>
              <a:rPr lang="en-US" sz="2400" b="1" i="1" dirty="0"/>
              <a:t>Commitment result after 2 year:</a:t>
            </a:r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Achieve level 2 </a:t>
            </a:r>
            <a:r>
              <a:rPr lang="en-US" sz="2400" dirty="0" smtClean="0"/>
              <a:t>for T</a:t>
            </a:r>
            <a:r>
              <a:rPr kumimoji="0" lang="en-US" sz="2400" dirty="0">
                <a:solidFill>
                  <a:srgbClr val="000000"/>
                </a:solidFill>
                <a:latin typeface="Arial" charset="0"/>
                <a:ea typeface="Microsoft YaHei" charset="-122"/>
              </a:rPr>
              <a:t>e</a:t>
            </a:r>
            <a:r>
              <a:rPr kumimoji="0" lang="en-US" sz="2400" dirty="0" smtClean="0">
                <a:solidFill>
                  <a:srgbClr val="000000"/>
                </a:solidFill>
                <a:latin typeface="Arial" charset="0"/>
                <a:ea typeface="Microsoft YaHei" charset="-122"/>
              </a:rPr>
              <a:t>st validation Engineer</a:t>
            </a:r>
            <a:endParaRPr lang="en-US" sz="2400" dirty="0"/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smtClean="0"/>
              <a:t>Tasks self-schedule ability.</a:t>
            </a:r>
            <a:endParaRPr lang="en-US" sz="2400" dirty="0" smtClean="0"/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smtClean="0"/>
              <a:t>Ensure </a:t>
            </a:r>
            <a:r>
              <a:rPr lang="en-US" sz="2400" dirty="0"/>
              <a:t>the quality of output and time management</a:t>
            </a:r>
            <a:r>
              <a:rPr lang="en-US" sz="2400" dirty="0" smtClean="0"/>
              <a:t>.</a:t>
            </a:r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Support to train new members join to project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19641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/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" b="32"/>
          <a:stretch>
            <a:fillRect/>
          </a:stretch>
        </p:blipFill>
        <p:spPr/>
      </p:pic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917513"/>
          </a:xfrm>
        </p:spPr>
        <p:txBody>
          <a:bodyPr/>
          <a:lstStyle/>
          <a:p>
            <a:r>
              <a:rPr lang="en-US" dirty="0"/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337285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51021_Renesas_Templates_16_9_EN_conf_RVC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Renesas_fonts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2" id="{23027CC0-E0AE-4831-839B-2A054B8942D5}" vid="{7A092532-8C16-4104-92EA-537B4E973A3C}"/>
    </a:ext>
  </a:extLst>
</a:theme>
</file>

<file path=ppt/theme/theme2.xml><?xml version="1.0" encoding="utf-8"?>
<a:theme xmlns:a="http://schemas.openxmlformats.org/drawingml/2006/main" name="Theme1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ユーザー定義 1">
      <a:majorFont>
        <a:latin typeface="Arial Narrow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7074B6E-E2FB-4F1B-BFCA-5C5F6253BF39}" vid="{14B25424-866B-4E9B-820E-135B3E881C03}"/>
    </a:ext>
  </a:extLst>
</a:theme>
</file>

<file path=ppt/theme/theme3.xml><?xml version="1.0" encoding="utf-8"?>
<a:theme xmlns:a="http://schemas.openxmlformats.org/drawingml/2006/main" name="1_151229_Renesas_Templates_16_9_EN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ユーザー定義 1">
      <a:majorFont>
        <a:latin typeface="Arial Narrow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1" id="{54147FB1-DAE6-4AE8-976A-1D9502EBCD93}" vid="{D1F8C949-6990-4F7E-A752-F27DA72DB7FA}"/>
    </a:ext>
  </a:extLst>
</a:theme>
</file>

<file path=ppt/theme/theme4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151021_Renesas_Templates_16_9_EN_conf_RVC</Template>
  <TotalTime>62167</TotalTime>
  <Words>760</Words>
  <Application>Microsoft Office PowerPoint</Application>
  <PresentationFormat>Widescreen</PresentationFormat>
  <Paragraphs>148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3" baseType="lpstr">
      <vt:lpstr>メイリオ</vt:lpstr>
      <vt:lpstr>Microsoft YaHei</vt:lpstr>
      <vt:lpstr>ＭＳ Ｐゴシック</vt:lpstr>
      <vt:lpstr>Arial</vt:lpstr>
      <vt:lpstr>Arial Narrow</vt:lpstr>
      <vt:lpstr>Calibri</vt:lpstr>
      <vt:lpstr>Courier New</vt:lpstr>
      <vt:lpstr>Symbol</vt:lpstr>
      <vt:lpstr>Times New Roman</vt:lpstr>
      <vt:lpstr>Wingdings</vt:lpstr>
      <vt:lpstr>151021_Renesas_Templates_16_9_EN_conf_RVC</vt:lpstr>
      <vt:lpstr>Theme1</vt:lpstr>
      <vt:lpstr>1_151229_Renesas_Templates_16_9_EN</vt:lpstr>
      <vt:lpstr>PowerPoint Presentation</vt:lpstr>
      <vt:lpstr>Agenda</vt:lpstr>
      <vt:lpstr>Training Target(1/2)</vt:lpstr>
      <vt:lpstr>Training Target(2/2)</vt:lpstr>
      <vt:lpstr>Current Status(1/2)</vt:lpstr>
      <vt:lpstr>Gaps Analysis and Solution(1/4)</vt:lpstr>
      <vt:lpstr>Gaps Analysis and Solution(2/4)</vt:lpstr>
      <vt:lpstr>Training Plan</vt:lpstr>
      <vt:lpstr>Commitment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Hieu Trung. Tran</dc:creator>
  <cp:lastModifiedBy>Nhi Yen. Cao</cp:lastModifiedBy>
  <cp:revision>439</cp:revision>
  <dcterms:created xsi:type="dcterms:W3CDTF">2016-06-23T01:54:16Z</dcterms:created>
  <dcterms:modified xsi:type="dcterms:W3CDTF">2017-06-20T06:25:39Z</dcterms:modified>
</cp:coreProperties>
</file>