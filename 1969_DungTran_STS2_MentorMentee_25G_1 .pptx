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  <p:sldMasterId id="2147483771" r:id="rId2"/>
    <p:sldMasterId id="2147483791" r:id="rId3"/>
  </p:sldMasterIdLst>
  <p:notesMasterIdLst>
    <p:notesMasterId r:id="rId17"/>
  </p:notesMasterIdLst>
  <p:sldIdLst>
    <p:sldId id="406" r:id="rId4"/>
    <p:sldId id="385" r:id="rId5"/>
    <p:sldId id="390" r:id="rId6"/>
    <p:sldId id="396" r:id="rId7"/>
    <p:sldId id="391" r:id="rId8"/>
    <p:sldId id="397" r:id="rId9"/>
    <p:sldId id="392" r:id="rId10"/>
    <p:sldId id="399" r:id="rId11"/>
    <p:sldId id="404" r:id="rId12"/>
    <p:sldId id="401" r:id="rId13"/>
    <p:sldId id="402" r:id="rId14"/>
    <p:sldId id="394" r:id="rId15"/>
    <p:sldId id="363" r:id="rId16"/>
  </p:sldIdLst>
  <p:sldSz cx="12192000" cy="6858000"/>
  <p:notesSz cx="9144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976" userDrawn="1">
          <p15:clr>
            <a:srgbClr val="A4A3A4"/>
          </p15:clr>
        </p15:guide>
        <p15:guide id="3" orient="horz" pos="2472" userDrawn="1">
          <p15:clr>
            <a:srgbClr val="A4A3A4"/>
          </p15:clr>
        </p15:guide>
        <p15:guide id="4" orient="horz" pos="13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94" autoAdjust="0"/>
    <p:restoredTop sz="96984" autoAdjust="0"/>
  </p:normalViewPr>
  <p:slideViewPr>
    <p:cSldViewPr showGuides="1">
      <p:cViewPr varScale="1">
        <p:scale>
          <a:sx n="68" d="100"/>
          <a:sy n="68" d="100"/>
        </p:scale>
        <p:origin x="600" y="174"/>
      </p:cViewPr>
      <p:guideLst>
        <p:guide orient="horz"/>
        <p:guide pos="3976"/>
        <p:guide orient="horz" pos="2472"/>
        <p:guide orient="horz" pos="1389"/>
      </p:guideLst>
    </p:cSldViewPr>
  </p:slideViewPr>
  <p:outlineViewPr>
    <p:cViewPr>
      <p:scale>
        <a:sx n="33" d="100"/>
        <a:sy n="33" d="100"/>
      </p:scale>
      <p:origin x="0" y="-179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6" d="100"/>
        <a:sy n="7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7C3E4-834A-4FDE-8876-3ED4986C368E}" type="datetimeFigureOut">
              <a:rPr lang="en-US" smtClean="0"/>
              <a:t>6/19/2017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5D16B-934A-4DDA-AA9D-F9317AC24A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922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194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161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none" baseline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none">
                <a:solidFill>
                  <a:schemeClr val="bg1"/>
                </a:solidFill>
                <a:latin typeface="Arial Narrow" panose="020B0606020202030204" pitchFamily="34" charset="0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 smtClean="0"/>
              <a:t>Textmasterformat</a:t>
            </a:r>
            <a:br>
              <a:rPr lang="de-DE" dirty="0" smtClean="0"/>
            </a:br>
            <a:r>
              <a:rPr lang="de-DE" dirty="0" smtClean="0"/>
              <a:t>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1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40860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 smtClean="0"/>
              <a:t>Textmasterformat</a:t>
            </a:r>
            <a:br>
              <a:rPr lang="de-DE" dirty="0" smtClean="0"/>
            </a:br>
            <a:r>
              <a:rPr lang="de-DE" dirty="0" smtClean="0"/>
              <a:t>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1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none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03905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79376" y="1280513"/>
            <a:ext cx="11233248" cy="307777"/>
          </a:xfrm>
          <a:ln>
            <a:noFill/>
          </a:ln>
        </p:spPr>
        <p:txBody>
          <a:bodyPr wrap="square">
            <a:spAutoFit/>
          </a:bodyPr>
          <a:lstStyle>
            <a:lvl1pPr marL="228600" indent="-228600">
              <a:spcAft>
                <a:spcPts val="1800"/>
              </a:spcAft>
              <a:buClrTx/>
              <a:buSzPct val="80000"/>
              <a:buFont typeface="Wingdings" panose="05000000000000000000" pitchFamily="2" charset="2"/>
              <a:buChar char="q"/>
              <a:tabLst>
                <a:tab pos="6637338" algn="r"/>
              </a:tabLst>
              <a:defRPr sz="2000"/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5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90676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7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11231197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1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878730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5460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294736" y="1268761"/>
            <a:ext cx="5412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81427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81427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19798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268760"/>
            <a:ext cx="5400000" cy="477924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5460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1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24560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268761"/>
            <a:ext cx="2628000" cy="2376264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268761"/>
            <a:ext cx="2628000" cy="2376264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814276"/>
            <a:ext cx="2628000" cy="2376264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814276"/>
            <a:ext cx="2628000" cy="2376264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11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5460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9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65937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336360" y="1268761"/>
            <a:ext cx="2363640" cy="800219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479376" y="1268760"/>
            <a:ext cx="8700624" cy="477924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46563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´Text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240016" y="1268760"/>
            <a:ext cx="5459984" cy="467124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9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5460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2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85147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321000" y="1268760"/>
            <a:ext cx="5400600" cy="467124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79376" y="1268760"/>
            <a:ext cx="5400600" cy="467124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2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25075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ph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79376" y="1268760"/>
            <a:ext cx="8700624" cy="449124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480376" y="1268760"/>
            <a:ext cx="2232248" cy="10156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4114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2" y="5940001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39751"/>
            <a:ext cx="11252200" cy="1661993"/>
          </a:xfrm>
        </p:spPr>
        <p:txBody>
          <a:bodyPr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en-GB" dirty="0"/>
          </a:p>
        </p:txBody>
      </p:sp>
      <p:sp>
        <p:nvSpPr>
          <p:cNvPr id="7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9605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 Graph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79376" y="1268761"/>
            <a:ext cx="4416608" cy="2376264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768408" y="1268760"/>
            <a:ext cx="1931592" cy="10156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11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79376" y="3882994"/>
            <a:ext cx="4416608" cy="2376264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3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5135776" y="1268761"/>
            <a:ext cx="4416608" cy="2376264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4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5135776" y="3882994"/>
            <a:ext cx="4416608" cy="2376264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6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9638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408368" y="1268760"/>
            <a:ext cx="2291632" cy="10156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479378" y="1268760"/>
            <a:ext cx="8700621" cy="307777"/>
          </a:xfrm>
        </p:spPr>
        <p:txBody>
          <a:bodyPr/>
          <a:lstStyle/>
          <a:p>
            <a:r>
              <a:rPr lang="en-US" altLang="ja-JP" smtClean="0"/>
              <a:t>Click icon to add table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44658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1"/>
            <a:ext cx="7920000" cy="1302234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41010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1"/>
            <a:ext cx="7920000" cy="1302234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067512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484762"/>
            <a:ext cx="5280000" cy="2769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1080000" y="1268760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55295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 + grey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Textmasterformat</a:t>
            </a:r>
            <a:br>
              <a:rPr lang="de-DE" dirty="0"/>
            </a:br>
            <a:r>
              <a:rPr lang="de-DE" dirty="0"/>
              <a:t>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986400" y="4881600"/>
            <a:ext cx="1418400" cy="1274400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800" baseline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5216270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grey +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Textmasterformat</a:t>
            </a:r>
            <a:br>
              <a:rPr lang="de-DE" dirty="0"/>
            </a:br>
            <a:r>
              <a:rPr lang="de-DE" dirty="0"/>
              <a:t>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6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986400" y="4881600"/>
            <a:ext cx="1418400" cy="1274400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800">
                <a:solidFill>
                  <a:srgbClr val="BFBEBE"/>
                </a:solidFill>
              </a:defRPr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8228967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376" y="-22588"/>
            <a:ext cx="8520000" cy="886397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080000" y="1800000"/>
            <a:ext cx="9000000" cy="295466"/>
          </a:xfrm>
          <a:ln>
            <a:noFill/>
          </a:ln>
        </p:spPr>
        <p:txBody>
          <a:bodyPr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6053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376" y="36717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080000" y="1800000"/>
            <a:ext cx="9000000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6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7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1650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30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81427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0078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800000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2554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800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800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924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924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0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11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5801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1080000" y="1800000"/>
            <a:ext cx="8100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0166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8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630880331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996863812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8100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331527288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5302000"/>
          </a:xfrm>
        </p:spPr>
        <p:txBody>
          <a:bodyPr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en-GB"/>
          </a:p>
        </p:txBody>
      </p:sp>
      <p:sp>
        <p:nvSpPr>
          <p:cNvPr id="5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999830162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5220000" y="1692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1080000" y="3996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5220000" y="3996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0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695790233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1079997" y="1800000"/>
            <a:ext cx="8100000" cy="4248000"/>
          </a:xfrm>
        </p:spPr>
        <p:txBody>
          <a:bodyPr/>
          <a:lstStyle/>
          <a:p>
            <a:r>
              <a:rPr lang="en-US" altLang="ja-JP" smtClean="0"/>
              <a:t>Click icon to add table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7956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blipFill>
            <a:blip r:embed="rId2"/>
            <a:stretch>
              <a:fillRect/>
            </a:stretch>
          </a:blip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  <p:sp>
        <p:nvSpPr>
          <p:cNvPr id="6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674306011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  <p:sp>
        <p:nvSpPr>
          <p:cNvPr id="4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sp>
        <p:nvSpPr>
          <p:cNvPr id="7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661710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800000"/>
            <a:ext cx="5280000" cy="3323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8" name="Gerade Verbindung 7"/>
          <p:cNvCxnSpPr/>
          <p:nvPr/>
        </p:nvCxnSpPr>
        <p:spPr>
          <a:xfrm>
            <a:off x="1080000" y="1268760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"/>
          <p:cNvSpPr txBox="1"/>
          <p:nvPr/>
        </p:nvSpPr>
        <p:spPr>
          <a:xfrm>
            <a:off x="1080000" y="1483200"/>
            <a:ext cx="5088008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b="1" dirty="0">
                <a:solidFill>
                  <a:schemeClr val="bg1"/>
                </a:solidFill>
                <a:latin typeface="+mj-ea"/>
                <a:ea typeface="+mj-ea"/>
              </a:rPr>
              <a:t>BIG</a:t>
            </a:r>
            <a:r>
              <a:rPr kumimoji="1" lang="en-US" altLang="ja-JP" b="1" baseline="0" dirty="0">
                <a:solidFill>
                  <a:schemeClr val="bg1"/>
                </a:solidFill>
                <a:latin typeface="+mj-ea"/>
                <a:ea typeface="+mj-ea"/>
              </a:rPr>
              <a:t> IDEAS FOR EVERY SPACE</a:t>
            </a:r>
            <a:endParaRPr kumimoji="1" lang="ja-JP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10" name="Gerade Verbindung 7"/>
          <p:cNvCxnSpPr/>
          <p:nvPr userDrawn="1"/>
        </p:nvCxnSpPr>
        <p:spPr>
          <a:xfrm>
            <a:off x="1080000" y="1268760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6706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 smtClean="0"/>
              <a:t>Textmasterformat</a:t>
            </a:r>
            <a:br>
              <a:rPr lang="de-DE" dirty="0" smtClean="0"/>
            </a:br>
            <a:r>
              <a:rPr lang="de-DE" dirty="0" smtClean="0"/>
              <a:t>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1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none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85889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1"/>
            <a:ext cx="7920000" cy="1302234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766614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 + grey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Textmasterformat</a:t>
            </a:r>
            <a:br>
              <a:rPr lang="de-DE" dirty="0"/>
            </a:br>
            <a:r>
              <a:rPr lang="de-DE" dirty="0"/>
              <a:t>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986400" y="4881600"/>
            <a:ext cx="1418400" cy="1274400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800" baseline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17043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grey +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Textmasterformat</a:t>
            </a:r>
            <a:br>
              <a:rPr lang="de-DE" dirty="0"/>
            </a:br>
            <a:r>
              <a:rPr lang="de-DE" dirty="0"/>
              <a:t>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6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986400" y="4881600"/>
            <a:ext cx="1418400" cy="1274400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800">
                <a:solidFill>
                  <a:srgbClr val="BFBEBE"/>
                </a:solidFill>
              </a:defRPr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54350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080000" y="1800000"/>
            <a:ext cx="9000000" cy="295466"/>
          </a:xfrm>
          <a:ln>
            <a:noFill/>
          </a:ln>
        </p:spPr>
        <p:txBody>
          <a:bodyPr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2151592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080000" y="1800000"/>
            <a:ext cx="9000000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79683755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30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2936657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800000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47325871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800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800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924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924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0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7684904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1080000" y="1800000"/>
            <a:ext cx="8100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96731598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8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75759831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2831121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8100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3676444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5302000"/>
          </a:xfrm>
        </p:spPr>
        <p:txBody>
          <a:bodyPr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en-GB"/>
          </a:p>
        </p:txBody>
      </p:sp>
      <p:sp>
        <p:nvSpPr>
          <p:cNvPr id="5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408634758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5220000" y="1692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1080000" y="3996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5220000" y="3996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0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02562760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1079997" y="1800000"/>
            <a:ext cx="8100000" cy="4248000"/>
          </a:xfrm>
        </p:spPr>
        <p:txBody>
          <a:bodyPr/>
          <a:lstStyle/>
          <a:p>
            <a:r>
              <a:rPr lang="en-US" altLang="ja-JP" smtClean="0"/>
              <a:t>Click icon to add table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2906436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blipFill>
            <a:blip r:embed="rId2"/>
            <a:stretch>
              <a:fillRect/>
            </a:stretch>
          </a:blip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  <p:sp>
        <p:nvSpPr>
          <p:cNvPr id="6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72067178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  <p:sp>
        <p:nvSpPr>
          <p:cNvPr id="4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6769184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800000"/>
            <a:ext cx="5280000" cy="3323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8" name="Gerade Verbindung 7"/>
          <p:cNvCxnSpPr/>
          <p:nvPr/>
        </p:nvCxnSpPr>
        <p:spPr>
          <a:xfrm>
            <a:off x="1080000" y="1268760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"/>
          <p:cNvSpPr txBox="1"/>
          <p:nvPr/>
        </p:nvSpPr>
        <p:spPr>
          <a:xfrm>
            <a:off x="1080000" y="1483200"/>
            <a:ext cx="5088008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b="1" dirty="0">
                <a:solidFill>
                  <a:schemeClr val="bg1"/>
                </a:solidFill>
                <a:latin typeface="+mj-ea"/>
                <a:ea typeface="+mj-ea"/>
              </a:rPr>
              <a:t>BIG</a:t>
            </a:r>
            <a:r>
              <a:rPr kumimoji="1" lang="en-US" altLang="ja-JP" b="1" baseline="0" dirty="0">
                <a:solidFill>
                  <a:schemeClr val="bg1"/>
                </a:solidFill>
                <a:latin typeface="+mj-ea"/>
                <a:ea typeface="+mj-ea"/>
              </a:rPr>
              <a:t> IDEAS FOR EVERY SPACE</a:t>
            </a:r>
            <a:endParaRPr kumimoji="1" lang="ja-JP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19994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gi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21" Type="http://schemas.openxmlformats.org/officeDocument/2006/relationships/image" Target="../media/image1.gif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6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image" Target="../media/image1.gif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79376" y="445076"/>
            <a:ext cx="11242224" cy="4431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de-DE" dirty="0" smtClean="0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79376" y="1309075"/>
            <a:ext cx="11240598" cy="1661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en-US" dirty="0"/>
          </a:p>
        </p:txBody>
      </p:sp>
      <p:sp>
        <p:nvSpPr>
          <p:cNvPr id="13" name="Textfeld 7"/>
          <p:cNvSpPr txBox="1"/>
          <p:nvPr/>
        </p:nvSpPr>
        <p:spPr>
          <a:xfrm>
            <a:off x="468002" y="6542446"/>
            <a:ext cx="279243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i="0" u="none" strike="noStrike" kern="1200" baseline="0" dirty="0" smtClean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2016 Renesas Design Vietnam Co., Ltd.. All rights reserved. </a:t>
            </a:r>
            <a:endParaRPr lang="en-US" sz="90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/>
          <p:cNvSpPr/>
          <p:nvPr/>
        </p:nvSpPr>
        <p:spPr>
          <a:xfrm>
            <a:off x="3412772" y="650389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 dirty="0">
              <a:latin typeface="+mj-lt"/>
            </a:endParaRPr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226" y="6452761"/>
            <a:ext cx="1773748" cy="302481"/>
          </a:xfrm>
          <a:prstGeom prst="rect">
            <a:avLst/>
          </a:prstGeom>
        </p:spPr>
      </p:pic>
      <p:sp>
        <p:nvSpPr>
          <p:cNvPr id="11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47212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9" r:id="rId9"/>
    <p:sldLayoutId id="2147483761" r:id="rId10"/>
    <p:sldLayoutId id="2147483762" r:id="rId11"/>
    <p:sldLayoutId id="2147483770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7013" indent="-2270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Pct val="80000"/>
        <a:buFont typeface="Wingdings" panose="05000000000000000000" pitchFamily="2" charset="2"/>
        <a:buChar char="q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Courier New" panose="02070309020205020404" pitchFamily="49" charset="0"/>
        <a:buChar char="o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80000" y="492801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80000" y="1800000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45419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2017 Renesas Electronics Corporation. All rights reserved. </a:t>
            </a:r>
            <a:endParaRPr lang="en-US" sz="80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図 7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852" y="6440061"/>
            <a:ext cx="1773748" cy="30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  <p:sldLayoutId id="2147483790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80000" y="492801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80000" y="1800000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45419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2017 Renesas Electronics Corporation. All rights reserved. </a:t>
            </a:r>
            <a:endParaRPr lang="en-US" sz="80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図 7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852" y="6440061"/>
            <a:ext cx="1773748" cy="301308"/>
          </a:xfrm>
          <a:prstGeom prst="rect">
            <a:avLst/>
          </a:prstGeom>
        </p:spPr>
      </p:pic>
      <p:sp>
        <p:nvSpPr>
          <p:cNvPr id="10" name="Rechteck 9"/>
          <p:cNvSpPr/>
          <p:nvPr/>
        </p:nvSpPr>
        <p:spPr>
          <a:xfrm>
            <a:off x="2999656" y="648986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46181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Excel_Worksheet1.xlsx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-1"/>
            <a:ext cx="11277600" cy="6172201"/>
          </a:xfrm>
          <a:prstGeom prst="rect">
            <a:avLst/>
          </a:prstGeom>
        </p:spPr>
      </p:pic>
      <p:sp>
        <p:nvSpPr>
          <p:cNvPr id="2" name="Textplatzhalter 1"/>
          <p:cNvSpPr>
            <a:spLocks noGrp="1"/>
          </p:cNvSpPr>
          <p:nvPr>
            <p:ph type="body" sz="quarter" idx="11"/>
          </p:nvPr>
        </p:nvSpPr>
        <p:spPr>
          <a:xfrm>
            <a:off x="1080000" y="-1"/>
            <a:ext cx="5778000" cy="2592000"/>
          </a:xfrm>
        </p:spPr>
        <p:txBody>
          <a:bodyPr/>
          <a:lstStyle/>
          <a:p>
            <a:r>
              <a:rPr lang="en-US" altLang="ja-JP" dirty="0"/>
              <a:t>25G MENTOR-MENTEE</a:t>
            </a:r>
          </a:p>
          <a:p>
            <a:r>
              <a:rPr lang="en-US" altLang="ja-JP" dirty="0"/>
              <a:t>TRAINING PLAN</a:t>
            </a:r>
          </a:p>
          <a:p>
            <a:pPr lvl="1"/>
            <a:r>
              <a:rPr lang="en-US" altLang="ja-JP" dirty="0" smtClean="0"/>
              <a:t>June </a:t>
            </a:r>
            <a:r>
              <a:rPr lang="en-US" altLang="ja-JP" dirty="0"/>
              <a:t>2017 – </a:t>
            </a:r>
            <a:r>
              <a:rPr lang="en-US" altLang="ja-JP" dirty="0" smtClean="0"/>
              <a:t>June 2019</a:t>
            </a:r>
            <a:endParaRPr lang="en-US" altLang="ja-JP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778000" cy="1840843"/>
          </a:xfrm>
        </p:spPr>
        <p:txBody>
          <a:bodyPr/>
          <a:lstStyle/>
          <a:p>
            <a:r>
              <a:rPr lang="en-US" dirty="0"/>
              <a:t>Date: </a:t>
            </a:r>
            <a:r>
              <a:rPr lang="en-US" dirty="0" smtClean="0"/>
              <a:t>June </a:t>
            </a:r>
            <a:r>
              <a:rPr lang="en-US" dirty="0"/>
              <a:t>28, 2017</a:t>
            </a:r>
          </a:p>
          <a:p>
            <a:r>
              <a:rPr lang="en-US" dirty="0"/>
              <a:t>Mentee: Dung Tran (1969)</a:t>
            </a:r>
          </a:p>
          <a:p>
            <a:r>
              <a:rPr lang="en-US" dirty="0"/>
              <a:t>Mentor:  </a:t>
            </a:r>
            <a:r>
              <a:rPr lang="en-US" dirty="0" err="1"/>
              <a:t>Kinh</a:t>
            </a:r>
            <a:r>
              <a:rPr lang="en-US" dirty="0"/>
              <a:t> Nguyen (1348)</a:t>
            </a:r>
          </a:p>
          <a:p>
            <a:r>
              <a:rPr lang="en-US" dirty="0"/>
              <a:t>Software Tool Solution 2 Group</a:t>
            </a:r>
          </a:p>
          <a:p>
            <a:r>
              <a:rPr lang="en-US" dirty="0"/>
              <a:t>Software Engineer Division</a:t>
            </a:r>
          </a:p>
          <a:p>
            <a:r>
              <a:rPr lang="en-US" dirty="0" err="1"/>
              <a:t>Renesas</a:t>
            </a:r>
            <a:r>
              <a:rPr lang="en-US" dirty="0"/>
              <a:t> Design Vietnam Co., Ltd.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00" y="4898026"/>
            <a:ext cx="1414395" cy="1274174"/>
          </a:xfrm>
          <a:prstGeom prst="rect">
            <a:avLst/>
          </a:prstGeom>
        </p:spPr>
      </p:pic>
      <p:sp>
        <p:nvSpPr>
          <p:cNvPr id="9" name="Rounded Rectangular Callout 8"/>
          <p:cNvSpPr/>
          <p:nvPr/>
        </p:nvSpPr>
        <p:spPr>
          <a:xfrm>
            <a:off x="6081486" y="4648844"/>
            <a:ext cx="4434114" cy="1066156"/>
          </a:xfrm>
          <a:prstGeom prst="wedgeRoundRectCallout">
            <a:avLst>
              <a:gd name="adj1" fmla="val -29930"/>
              <a:gd name="adj2" fmla="val 7453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Nhận</a:t>
            </a:r>
            <a:r>
              <a:rPr lang="en-US" sz="1400" dirty="0" smtClean="0"/>
              <a:t> </a:t>
            </a:r>
            <a:r>
              <a:rPr lang="en-US" sz="1400" dirty="0" err="1" smtClean="0"/>
              <a:t>xét</a:t>
            </a:r>
            <a:r>
              <a:rPr lang="en-US" sz="1400" dirty="0" smtClean="0"/>
              <a:t> </a:t>
            </a:r>
            <a:r>
              <a:rPr lang="en-US" sz="1400" dirty="0" err="1" smtClean="0"/>
              <a:t>chung</a:t>
            </a:r>
            <a:r>
              <a:rPr lang="en-US" sz="1400" dirty="0" smtClean="0"/>
              <a:t>. Slide </a:t>
            </a:r>
            <a:r>
              <a:rPr lang="en-US" sz="1400" dirty="0" err="1" smtClean="0"/>
              <a:t>của</a:t>
            </a:r>
            <a:r>
              <a:rPr lang="en-US" sz="1400" dirty="0" smtClean="0"/>
              <a:t> e </a:t>
            </a:r>
            <a:r>
              <a:rPr lang="en-US" sz="1400" dirty="0" err="1" smtClean="0"/>
              <a:t>giống</a:t>
            </a:r>
            <a:r>
              <a:rPr lang="en-US" sz="1400" dirty="0" smtClean="0"/>
              <a:t> </a:t>
            </a:r>
            <a:r>
              <a:rPr lang="en-US" sz="1400" dirty="0" err="1" smtClean="0"/>
              <a:t>nhiều</a:t>
            </a:r>
            <a:r>
              <a:rPr lang="en-US" sz="1400" dirty="0" smtClean="0"/>
              <a:t> slide </a:t>
            </a:r>
            <a:r>
              <a:rPr lang="en-US" sz="1400" dirty="0" err="1" smtClean="0"/>
              <a:t>của</a:t>
            </a:r>
            <a:r>
              <a:rPr lang="en-US" sz="1400" dirty="0" smtClean="0"/>
              <a:t> </a:t>
            </a:r>
            <a:r>
              <a:rPr lang="en-US" sz="1400" dirty="0" err="1" smtClean="0"/>
              <a:t>Quyết</a:t>
            </a:r>
            <a:r>
              <a:rPr lang="en-US" sz="1400" dirty="0" smtClean="0"/>
              <a:t>. Do e </a:t>
            </a:r>
            <a:r>
              <a:rPr lang="en-US" sz="1400" dirty="0" err="1" smtClean="0"/>
              <a:t>và</a:t>
            </a:r>
            <a:r>
              <a:rPr lang="en-US" sz="1400" dirty="0" smtClean="0"/>
              <a:t> </a:t>
            </a:r>
            <a:r>
              <a:rPr lang="en-US" sz="1400" dirty="0" err="1" smtClean="0"/>
              <a:t>Triết</a:t>
            </a:r>
            <a:r>
              <a:rPr lang="en-US" sz="1400" dirty="0" smtClean="0"/>
              <a:t> </a:t>
            </a:r>
            <a:r>
              <a:rPr lang="en-US" sz="1400" dirty="0" err="1" smtClean="0"/>
              <a:t>chung</a:t>
            </a:r>
            <a:r>
              <a:rPr lang="en-US" sz="1400" dirty="0" smtClean="0"/>
              <a:t> 1 project </a:t>
            </a:r>
            <a:r>
              <a:rPr lang="en-US" sz="1400" dirty="0" err="1" smtClean="0"/>
              <a:t>và</a:t>
            </a:r>
            <a:r>
              <a:rPr lang="en-US" sz="1400" dirty="0" smtClean="0"/>
              <a:t> </a:t>
            </a:r>
            <a:r>
              <a:rPr lang="en-US" sz="1400" dirty="0" err="1" smtClean="0"/>
              <a:t>thuyết</a:t>
            </a:r>
            <a:r>
              <a:rPr lang="en-US" sz="1400" dirty="0" smtClean="0"/>
              <a:t> </a:t>
            </a:r>
            <a:r>
              <a:rPr lang="en-US" sz="1400" dirty="0" err="1" smtClean="0"/>
              <a:t>trình</a:t>
            </a:r>
            <a:r>
              <a:rPr lang="en-US" sz="1400" dirty="0" smtClean="0"/>
              <a:t> </a:t>
            </a:r>
            <a:r>
              <a:rPr lang="en-US" sz="1400" dirty="0" err="1" smtClean="0"/>
              <a:t>gần</a:t>
            </a:r>
            <a:r>
              <a:rPr lang="en-US" sz="1400" dirty="0" smtClean="0"/>
              <a:t> </a:t>
            </a:r>
            <a:r>
              <a:rPr lang="en-US" sz="1400" dirty="0" err="1" smtClean="0"/>
              <a:t>nhau</a:t>
            </a:r>
            <a:r>
              <a:rPr lang="en-US" sz="1400" dirty="0" smtClean="0"/>
              <a:t>. E </a:t>
            </a:r>
            <a:r>
              <a:rPr lang="en-US" sz="1400" dirty="0" err="1" smtClean="0"/>
              <a:t>nên</a:t>
            </a:r>
            <a:r>
              <a:rPr lang="en-US" sz="1400" dirty="0" smtClean="0"/>
              <a:t> share slide </a:t>
            </a:r>
            <a:r>
              <a:rPr lang="en-US" sz="1400" dirty="0" err="1" smtClean="0"/>
              <a:t>của</a:t>
            </a:r>
            <a:r>
              <a:rPr lang="en-US" sz="1400" dirty="0" smtClean="0"/>
              <a:t> e </a:t>
            </a:r>
            <a:r>
              <a:rPr lang="en-US" sz="1400" dirty="0" err="1" smtClean="0"/>
              <a:t>cho</a:t>
            </a:r>
            <a:r>
              <a:rPr lang="en-US" sz="1400" dirty="0" smtClean="0"/>
              <a:t> </a:t>
            </a:r>
            <a:r>
              <a:rPr lang="en-US" sz="1400" dirty="0" err="1" smtClean="0"/>
              <a:t>Triết</a:t>
            </a:r>
            <a:r>
              <a:rPr lang="en-US" sz="1400" dirty="0" smtClean="0"/>
              <a:t> </a:t>
            </a:r>
            <a:r>
              <a:rPr lang="en-US" sz="1400" dirty="0" err="1" smtClean="0"/>
              <a:t>và</a:t>
            </a:r>
            <a:r>
              <a:rPr lang="en-US" sz="1400" dirty="0" smtClean="0"/>
              <a:t> </a:t>
            </a:r>
            <a:r>
              <a:rPr lang="en-US" sz="1400" dirty="0" err="1" smtClean="0"/>
              <a:t>nhắn</a:t>
            </a:r>
            <a:r>
              <a:rPr lang="en-US" sz="1400" dirty="0" smtClean="0"/>
              <a:t> </a:t>
            </a:r>
            <a:r>
              <a:rPr lang="en-US" sz="1400" dirty="0" err="1" smtClean="0"/>
              <a:t>nhủ</a:t>
            </a:r>
            <a:r>
              <a:rPr lang="en-US" sz="1400" dirty="0" smtClean="0"/>
              <a:t> </a:t>
            </a:r>
            <a:r>
              <a:rPr lang="en-US" sz="1400" dirty="0" err="1" smtClean="0"/>
              <a:t>rằng</a:t>
            </a:r>
            <a:r>
              <a:rPr lang="en-US" sz="1400" dirty="0" smtClean="0"/>
              <a:t> </a:t>
            </a:r>
            <a:r>
              <a:rPr lang="en-US" sz="1400" dirty="0" err="1" smtClean="0"/>
              <a:t>nên</a:t>
            </a:r>
            <a:r>
              <a:rPr lang="en-US" sz="1400" dirty="0" smtClean="0"/>
              <a:t> </a:t>
            </a:r>
            <a:r>
              <a:rPr lang="en-US" sz="1400" dirty="0" err="1" smtClean="0"/>
              <a:t>làm</a:t>
            </a:r>
            <a:r>
              <a:rPr lang="en-US" sz="1400" dirty="0" smtClean="0"/>
              <a:t> </a:t>
            </a:r>
            <a:r>
              <a:rPr lang="en-US" sz="1400" dirty="0" err="1" smtClean="0"/>
              <a:t>khác</a:t>
            </a:r>
            <a:r>
              <a:rPr lang="en-US" sz="1400" dirty="0" smtClean="0"/>
              <a:t> </a:t>
            </a:r>
            <a:r>
              <a:rPr lang="en-US" sz="1400" dirty="0" err="1" smtClean="0"/>
              <a:t>của</a:t>
            </a:r>
            <a:r>
              <a:rPr lang="en-US" sz="1400" dirty="0" smtClean="0"/>
              <a:t> e. </a:t>
            </a:r>
            <a:r>
              <a:rPr lang="en-US" sz="1400" dirty="0" err="1" smtClean="0"/>
              <a:t>Không</a:t>
            </a:r>
            <a:r>
              <a:rPr lang="en-US" sz="1400" dirty="0" smtClean="0"/>
              <a:t> </a:t>
            </a:r>
            <a:r>
              <a:rPr lang="en-US" sz="1400" dirty="0" err="1" smtClean="0"/>
              <a:t>thể</a:t>
            </a:r>
            <a:r>
              <a:rPr lang="en-US" sz="1400" dirty="0" smtClean="0"/>
              <a:t> </a:t>
            </a:r>
            <a:r>
              <a:rPr lang="en-US" sz="1400" dirty="0" err="1" smtClean="0"/>
              <a:t>nào</a:t>
            </a:r>
            <a:r>
              <a:rPr lang="en-US" sz="1400" dirty="0" smtClean="0"/>
              <a:t> 2 slide y </a:t>
            </a:r>
            <a:r>
              <a:rPr lang="en-US" sz="1400" dirty="0" err="1" smtClean="0"/>
              <a:t>chang</a:t>
            </a:r>
            <a:r>
              <a:rPr lang="en-US" sz="1400" dirty="0" smtClean="0"/>
              <a:t> </a:t>
            </a:r>
            <a:r>
              <a:rPr lang="en-US" sz="1400" dirty="0" err="1" smtClean="0"/>
              <a:t>đc</a:t>
            </a:r>
            <a:r>
              <a:rPr lang="en-US" sz="1400" dirty="0" smtClean="0"/>
              <a:t> </a:t>
            </a:r>
            <a:r>
              <a:rPr lang="en-US" sz="1400" dirty="0" err="1" smtClean="0"/>
              <a:t>nhé</a:t>
            </a:r>
            <a:r>
              <a:rPr lang="en-US" sz="1400" dirty="0" smtClean="0"/>
              <a:t>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73972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>
          <a:xfrm>
            <a:off x="479376" y="1280513"/>
            <a:ext cx="11233248" cy="2462213"/>
          </a:xfrm>
        </p:spPr>
        <p:txBody>
          <a:bodyPr/>
          <a:lstStyle/>
          <a:p>
            <a:r>
              <a:rPr lang="de-DE" dirty="0"/>
              <a:t>Training T</a:t>
            </a:r>
            <a:r>
              <a:rPr lang="de-DE" dirty="0" smtClean="0"/>
              <a:t>arget	Page 03</a:t>
            </a:r>
          </a:p>
          <a:p>
            <a:r>
              <a:rPr lang="de-DE" dirty="0"/>
              <a:t>Current </a:t>
            </a:r>
            <a:r>
              <a:rPr lang="de-DE" dirty="0" smtClean="0"/>
              <a:t>Status	Page 05</a:t>
            </a:r>
          </a:p>
          <a:p>
            <a:r>
              <a:rPr lang="de-DE" dirty="0"/>
              <a:t>Gaps Analysis and Solution</a:t>
            </a:r>
            <a:r>
              <a:rPr lang="de-DE" dirty="0" smtClean="0"/>
              <a:t>	Page 07</a:t>
            </a:r>
          </a:p>
          <a:p>
            <a:r>
              <a:rPr lang="de-DE" dirty="0"/>
              <a:t>Training Plan</a:t>
            </a:r>
            <a:r>
              <a:rPr lang="de-DE" dirty="0" smtClean="0"/>
              <a:t>	Page 11</a:t>
            </a:r>
          </a:p>
          <a:p>
            <a:r>
              <a:rPr lang="de-DE" dirty="0"/>
              <a:t>Commitment </a:t>
            </a:r>
            <a:r>
              <a:rPr lang="de-DE" dirty="0" smtClean="0"/>
              <a:t>	Page 12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250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Target(1/2)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11231197" cy="69249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Achieve </a:t>
            </a:r>
            <a:r>
              <a:rPr lang="en-US" b="1" dirty="0"/>
              <a:t>“Software Design Engineer” with role </a:t>
            </a:r>
            <a:r>
              <a:rPr lang="en-US" b="1" dirty="0" smtClean="0"/>
              <a:t>level 2 by June 2019.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Ability to do </a:t>
            </a:r>
            <a:r>
              <a:rPr lang="en-US" b="1" dirty="0"/>
              <a:t>RTOS </a:t>
            </a:r>
            <a:r>
              <a:rPr lang="en-US" b="1" dirty="0" smtClean="0"/>
              <a:t>Kernel Task </a:t>
            </a:r>
            <a:r>
              <a:rPr lang="en-US" b="1" dirty="0"/>
              <a:t>without support, if it is within </a:t>
            </a:r>
            <a:r>
              <a:rPr lang="en-US" b="1" dirty="0" smtClean="0"/>
              <a:t>a certain </a:t>
            </a:r>
            <a:r>
              <a:rPr lang="en-US" b="1" dirty="0"/>
              <a:t>degree of </a:t>
            </a:r>
            <a:r>
              <a:rPr lang="en-US" b="1" dirty="0" smtClean="0"/>
              <a:t>difficulty. 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357081"/>
              </p:ext>
            </p:extLst>
          </p:nvPr>
        </p:nvGraphicFramePr>
        <p:xfrm>
          <a:off x="228600" y="1777396"/>
          <a:ext cx="11734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905000"/>
                <a:gridCol w="7010400"/>
                <a:gridCol w="1524000"/>
              </a:tblGrid>
              <a:tr h="366729"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Role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Skill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Target Level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73731">
                <a:tc rowSpan="2"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Engineer for software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/>
                        <a:t>Software functional</a:t>
                      </a:r>
                      <a:r>
                        <a:rPr lang="en-US" sz="1500" baseline="0" dirty="0" smtClean="0"/>
                        <a:t> </a:t>
                      </a:r>
                      <a:r>
                        <a:rPr lang="en-US" sz="1500" dirty="0" smtClean="0"/>
                        <a:t>design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 smtClean="0">
                          <a:solidFill>
                            <a:schemeClr val="tx1"/>
                          </a:solidFill>
                        </a:rPr>
                        <a:t>Decide the structure of software according to given software requirement definitions.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Level 2</a:t>
                      </a:r>
                      <a:endParaRPr lang="en-US" sz="1500" dirty="0"/>
                    </a:p>
                  </a:txBody>
                  <a:tcPr anchor="ctr"/>
                </a:tc>
              </a:tr>
              <a:tr h="57373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/>
                        <a:t>Software detailed design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 smtClean="0">
                          <a:solidFill>
                            <a:schemeClr val="tx1"/>
                          </a:solidFill>
                        </a:rPr>
                        <a:t>Conduct a detailed software design according to given software structure definitions.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2</a:t>
                      </a:r>
                    </a:p>
                  </a:txBody>
                  <a:tcPr anchor="ctr"/>
                </a:tc>
              </a:tr>
              <a:tr h="812786">
                <a:tc rowSpan="4"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Coding </a:t>
                      </a:r>
                      <a:br>
                        <a:rPr lang="en-US" sz="1500" b="1" dirty="0" smtClean="0"/>
                      </a:br>
                      <a:r>
                        <a:rPr lang="en-US" sz="1500" b="1" dirty="0" smtClean="0"/>
                        <a:t>engineer </a:t>
                      </a:r>
                      <a:br>
                        <a:rPr lang="en-US" sz="1500" b="1" dirty="0" smtClean="0"/>
                      </a:br>
                      <a:r>
                        <a:rPr lang="en-US" sz="1500" b="1" dirty="0" smtClean="0"/>
                        <a:t>(software)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/>
                        <a:t>Software coding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 smtClean="0">
                          <a:solidFill>
                            <a:schemeClr val="tx1"/>
                          </a:solidFill>
                        </a:rPr>
                        <a:t>Have sufficient knowledge of programming languages and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create</a:t>
                      </a:r>
                      <a:r>
                        <a:rPr lang="en-US" sz="1500" dirty="0" smtClean="0">
                          <a:solidFill>
                            <a:schemeClr val="tx1"/>
                          </a:solidFill>
                        </a:rPr>
                        <a:t> a program based</a:t>
                      </a: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smtClean="0">
                          <a:solidFill>
                            <a:schemeClr val="tx1"/>
                          </a:solidFill>
                        </a:rPr>
                        <a:t>on the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detailed design document</a:t>
                      </a:r>
                      <a:r>
                        <a:rPr lang="en-US" sz="15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 smtClean="0">
                          <a:solidFill>
                            <a:schemeClr val="tx1"/>
                          </a:solidFill>
                        </a:rPr>
                        <a:t>Conduct a code review of created code.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2</a:t>
                      </a:r>
                    </a:p>
                  </a:txBody>
                  <a:tcPr anchor="ctr"/>
                </a:tc>
              </a:tr>
              <a:tr h="81278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Development</a:t>
                      </a:r>
                      <a:r>
                        <a:rPr kumimoji="1" lang="en-US" sz="15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environment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 smtClean="0">
                          <a:solidFill>
                            <a:schemeClr val="tx1"/>
                          </a:solidFill>
                        </a:rPr>
                        <a:t>Have knowledge of the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development environment </a:t>
                      </a:r>
                      <a:r>
                        <a:rPr lang="en-US" sz="1500" dirty="0" smtClean="0">
                          <a:solidFill>
                            <a:schemeClr val="tx1"/>
                          </a:solidFill>
                        </a:rPr>
                        <a:t>(compiler, debugger) and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target environment </a:t>
                      </a:r>
                      <a:r>
                        <a:rPr lang="en-US" sz="1500" dirty="0" smtClean="0">
                          <a:solidFill>
                            <a:schemeClr val="tx1"/>
                          </a:solidFill>
                        </a:rPr>
                        <a:t>(OS, middleware, applications, etc.) and create source code with these environments in mind.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2</a:t>
                      </a:r>
                    </a:p>
                  </a:txBody>
                  <a:tcPr anchor="ctr"/>
                </a:tc>
              </a:tr>
              <a:tr h="573731">
                <a:tc vMerge="1"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/>
                        <a:t>Readability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 smtClean="0">
                          <a:solidFill>
                            <a:schemeClr val="tx1"/>
                          </a:solidFill>
                        </a:rPr>
                        <a:t>Have knowledge of the techniques for improving the source code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readability</a:t>
                      </a:r>
                      <a:r>
                        <a:rPr lang="en-US" sz="1500" dirty="0" smtClean="0">
                          <a:solidFill>
                            <a:schemeClr val="tx1"/>
                          </a:solidFill>
                        </a:rPr>
                        <a:t> and perform coding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accordingly</a:t>
                      </a:r>
                      <a:r>
                        <a:rPr lang="en-US" sz="15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2</a:t>
                      </a:r>
                    </a:p>
                  </a:txBody>
                  <a:tcPr anchor="ctr"/>
                </a:tc>
              </a:tr>
              <a:tr h="812786">
                <a:tc vMerge="1">
                  <a:txBody>
                    <a:bodyPr/>
                    <a:lstStyle/>
                    <a:p>
                      <a:pPr algn="l"/>
                      <a:endParaRPr lang="en-US" sz="15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/>
                        <a:t>Software</a:t>
                      </a:r>
                      <a:r>
                        <a:rPr lang="en-US" sz="1500" baseline="0" dirty="0" smtClean="0"/>
                        <a:t> </a:t>
                      </a:r>
                      <a:r>
                        <a:rPr lang="en-US" sz="1500" dirty="0" smtClean="0"/>
                        <a:t>development</a:t>
                      </a:r>
                      <a:r>
                        <a:rPr lang="en-US" sz="1500" baseline="0" dirty="0" smtClean="0"/>
                        <a:t> </a:t>
                      </a:r>
                      <a:r>
                        <a:rPr lang="en-US" sz="1500" dirty="0" smtClean="0"/>
                        <a:t>methodology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 smtClean="0">
                          <a:solidFill>
                            <a:schemeClr val="tx1"/>
                          </a:solidFill>
                        </a:rPr>
                        <a:t>Make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structured analysis/design </a:t>
                      </a:r>
                      <a:r>
                        <a:rPr lang="en-US" sz="1500" dirty="0" smtClean="0">
                          <a:solidFill>
                            <a:schemeClr val="tx1"/>
                          </a:solidFill>
                        </a:rPr>
                        <a:t>(programming) and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object-oriented design</a:t>
                      </a:r>
                      <a:r>
                        <a:rPr lang="en-US" sz="1500" dirty="0" smtClean="0">
                          <a:solidFill>
                            <a:schemeClr val="tx1"/>
                          </a:solidFill>
                        </a:rPr>
                        <a:t> (programming) as an application of the software development methodology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solidFill>
                            <a:schemeClr val="tx1"/>
                          </a:solidFill>
                        </a:rPr>
                        <a:t>Level 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41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Target(2/2)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4</a:t>
            </a:fld>
            <a:endParaRPr lang="de-DE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646298"/>
              </p:ext>
            </p:extLst>
          </p:nvPr>
        </p:nvGraphicFramePr>
        <p:xfrm>
          <a:off x="228600" y="1600200"/>
          <a:ext cx="11734800" cy="4018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8550"/>
                <a:gridCol w="8096250"/>
              </a:tblGrid>
              <a:tr h="515426"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Skill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Target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71831">
                <a:tc>
                  <a:txBody>
                    <a:bodyPr/>
                    <a:lstStyle/>
                    <a:p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Development Process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Understand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follow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Development process.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 feedback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by looking at result of work.</a:t>
                      </a:r>
                    </a:p>
                  </a:txBody>
                  <a:tcPr anchor="ctr"/>
                </a:tc>
              </a:tr>
              <a:tr h="544279">
                <a:tc>
                  <a:txBody>
                    <a:bodyPr/>
                    <a:lstStyle/>
                    <a:p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Communication</a:t>
                      </a:r>
                      <a:endParaRPr kumimoji="1" lang="en-US" sz="15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express idea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to others.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report status/issues/solutions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leaders. </a:t>
                      </a:r>
                    </a:p>
                  </a:txBody>
                  <a:tcPr anchor="ctr"/>
                </a:tc>
              </a:tr>
              <a:tr h="771061">
                <a:tc>
                  <a:txBody>
                    <a:bodyPr/>
                    <a:lstStyle/>
                    <a:p>
                      <a:pPr algn="l"/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Management 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schedule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works and follow the schedule.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manage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common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risk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for assigned tasks: private issues (health,…),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technical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issues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(lack of experience in assigned fields),… </a:t>
                      </a:r>
                    </a:p>
                  </a:txBody>
                  <a:tcPr anchor="ctr"/>
                </a:tc>
              </a:tr>
              <a:tr h="528401">
                <a:tc>
                  <a:txBody>
                    <a:bodyPr/>
                    <a:lstStyle/>
                    <a:p>
                      <a:pPr algn="l"/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English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TOEIC 700</a:t>
                      </a:r>
                    </a:p>
                  </a:txBody>
                  <a:tcPr anchor="ctr"/>
                </a:tc>
              </a:tr>
              <a:tr h="528401">
                <a:tc>
                  <a:txBody>
                    <a:bodyPr/>
                    <a:lstStyle/>
                    <a:p>
                      <a:pPr algn="l"/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MCU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understand architecture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of objective MCU of assigned product</a:t>
                      </a:r>
                    </a:p>
                  </a:txBody>
                  <a:tcPr anchor="ctr"/>
                </a:tc>
              </a:tr>
              <a:tr h="528401">
                <a:tc>
                  <a:txBody>
                    <a:bodyPr/>
                    <a:lstStyle/>
                    <a:p>
                      <a:pPr algn="l"/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QC in 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collect and report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working result to QC leader.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Understand what is wrong in QC report and can explain the fact to Project leader.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001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Status(1/2)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5</a:t>
            </a:fld>
            <a:endParaRPr lang="de-DE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635430"/>
              </p:ext>
            </p:extLst>
          </p:nvPr>
        </p:nvGraphicFramePr>
        <p:xfrm>
          <a:off x="479376" y="1008730"/>
          <a:ext cx="11677649" cy="5302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091"/>
                <a:gridCol w="1895722"/>
                <a:gridCol w="6976258"/>
                <a:gridCol w="1516578"/>
              </a:tblGrid>
              <a:tr h="532396"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Role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Skill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Current status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Current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Level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1036531">
                <a:tc rowSpan="2">
                  <a:txBody>
                    <a:bodyPr/>
                    <a:lstStyle/>
                    <a:p>
                      <a:pPr algn="ctr"/>
                      <a:r>
                        <a:rPr lang="en-US" sz="1500" b="1" dirty="0" smtClean="0"/>
                        <a:t>Engineer for software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/>
                        <a:t>Software functional design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 smtClean="0">
                          <a:solidFill>
                            <a:srgbClr val="FF0000"/>
                          </a:solidFill>
                        </a:rPr>
                        <a:t>Lack</a:t>
                      </a: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 of</a:t>
                      </a:r>
                      <a:r>
                        <a:rPr lang="en-US" sz="15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knowledge</a:t>
                      </a: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about Functional Design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Cannot</a:t>
                      </a:r>
                      <a:r>
                        <a:rPr kumimoji="1" lang="en-US" sz="1500" kern="120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create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the Functional Design </a:t>
                      </a:r>
                      <a:r>
                        <a:rPr kumimoji="1" lang="en-US" sz="1500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based on requirements from customer.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refer and reuse</a:t>
                      </a: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from existing designs to create new function in FS </a:t>
                      </a:r>
                      <a:r>
                        <a:rPr lang="en-US" sz="1600" baseline="0" dirty="0" smtClean="0">
                          <a:solidFill>
                            <a:schemeClr val="dk1"/>
                          </a:solidFill>
                        </a:rPr>
                        <a:t>w</a:t>
                      </a:r>
                      <a:r>
                        <a:rPr lang="en-US" sz="1600" dirty="0" smtClean="0"/>
                        <a:t>ith support from experience Engineers</a:t>
                      </a: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kumimoji="1" lang="en-US" sz="15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Level 1</a:t>
                      </a:r>
                      <a:endParaRPr lang="en-US" sz="1500" dirty="0"/>
                    </a:p>
                  </a:txBody>
                  <a:tcPr anchor="ctr"/>
                </a:tc>
              </a:tr>
              <a:tr h="100563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/>
                        <a:t>Software detailed design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500" dirty="0" smtClean="0">
                          <a:solidFill>
                            <a:srgbClr val="FF0000"/>
                          </a:solidFill>
                        </a:rPr>
                        <a:t>Lack</a:t>
                      </a: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 of</a:t>
                      </a:r>
                      <a:r>
                        <a:rPr lang="en-US" sz="15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knowledge</a:t>
                      </a: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about Detailed Design</a:t>
                      </a:r>
                      <a:endParaRPr lang="en-US" sz="1500" baseline="0" dirty="0" smtClean="0"/>
                    </a:p>
                    <a:p>
                      <a:pPr marL="285750" marR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Cannot create </a:t>
                      </a:r>
                      <a:r>
                        <a:rPr lang="en-US" sz="1500" baseline="0" dirty="0" smtClean="0"/>
                        <a:t>Detail Design based on Functional Design.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refer and reuse</a:t>
                      </a: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from existing designs to create new function in DS </a:t>
                      </a:r>
                      <a:r>
                        <a:rPr lang="en-US" sz="1600" baseline="0" dirty="0" smtClean="0">
                          <a:solidFill>
                            <a:schemeClr val="dk1"/>
                          </a:solidFill>
                        </a:rPr>
                        <a:t>w</a:t>
                      </a:r>
                      <a:r>
                        <a:rPr lang="en-US" sz="1600" dirty="0" smtClean="0"/>
                        <a:t>ith support from experience Engineers</a:t>
                      </a: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500" baseline="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1</a:t>
                      </a:r>
                    </a:p>
                  </a:txBody>
                  <a:tcPr anchor="ctr"/>
                </a:tc>
              </a:tr>
              <a:tr h="754227">
                <a:tc rowSpan="4">
                  <a:txBody>
                    <a:bodyPr/>
                    <a:lstStyle/>
                    <a:p>
                      <a:pPr algn="ctr"/>
                      <a:r>
                        <a:rPr lang="en-US" sz="1500" b="1" dirty="0" smtClean="0"/>
                        <a:t>Coding </a:t>
                      </a:r>
                      <a:br>
                        <a:rPr lang="en-US" sz="1500" b="1" dirty="0" smtClean="0"/>
                      </a:br>
                      <a:r>
                        <a:rPr lang="en-US" sz="1500" b="1" dirty="0" smtClean="0"/>
                        <a:t>engineer </a:t>
                      </a:r>
                      <a:br>
                        <a:rPr lang="en-US" sz="1500" b="1" dirty="0" smtClean="0"/>
                      </a:br>
                      <a:r>
                        <a:rPr lang="en-US" sz="1500" b="1" dirty="0" smtClean="0"/>
                        <a:t>(software</a:t>
                      </a:r>
                      <a:r>
                        <a:rPr lang="en-US" sz="1500" dirty="0" smtClean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/>
                        <a:t>Software coding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 smtClean="0">
                          <a:solidFill>
                            <a:srgbClr val="FF0000"/>
                          </a:solidFill>
                        </a:rPr>
                        <a:t>Can create</a:t>
                      </a: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500" baseline="0" dirty="0" smtClean="0"/>
                        <a:t>source </a:t>
                      </a:r>
                      <a:r>
                        <a:rPr lang="en-US" sz="1500" dirty="0" smtClean="0"/>
                        <a:t>code for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simple</a:t>
                      </a: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functions</a:t>
                      </a:r>
                      <a:r>
                        <a:rPr kumimoji="1" lang="en-US" sz="1500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only.</a:t>
                      </a:r>
                      <a:endParaRPr lang="en-US" sz="15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Not</a:t>
                      </a: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familiar</a:t>
                      </a:r>
                      <a:r>
                        <a:rPr kumimoji="1" lang="en-US" sz="1500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500" baseline="0" dirty="0" smtClean="0"/>
                        <a:t>with RTOS Kernel project and still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need supports</a:t>
                      </a: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500" baseline="0" dirty="0" smtClean="0"/>
                        <a:t>from Seniors/Leaders.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1</a:t>
                      </a:r>
                    </a:p>
                  </a:txBody>
                  <a:tcPr anchor="ctr"/>
                </a:tc>
              </a:tr>
              <a:tr h="56197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en-US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Development</a:t>
                      </a:r>
                      <a:r>
                        <a:rPr kumimoji="1" lang="en-US" sz="15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environment</a:t>
                      </a:r>
                      <a:endParaRPr kumimoji="1" 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accent2"/>
                          </a:solidFill>
                        </a:rPr>
                        <a:t>Lack of experience about </a:t>
                      </a:r>
                      <a:r>
                        <a:rPr lang="en-US" sz="1600" dirty="0" smtClean="0"/>
                        <a:t>working with </a:t>
                      </a:r>
                      <a:r>
                        <a:rPr lang="en-US" sz="1600" baseline="0" dirty="0" smtClean="0">
                          <a:solidFill>
                            <a:schemeClr val="accent2"/>
                          </a:solidFill>
                        </a:rPr>
                        <a:t>Realtime OS</a:t>
                      </a:r>
                      <a:r>
                        <a:rPr lang="en-US" sz="1600" baseline="0" dirty="0" smtClean="0"/>
                        <a:t>.</a:t>
                      </a:r>
                    </a:p>
                    <a:p>
                      <a:pPr marL="285750" marR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aseline="0" dirty="0" smtClean="0">
                          <a:solidFill>
                            <a:schemeClr val="accent2"/>
                          </a:solidFill>
                        </a:rPr>
                        <a:t>Have little experience </a:t>
                      </a:r>
                      <a:r>
                        <a:rPr lang="en-US" sz="1600" baseline="0" dirty="0" smtClean="0"/>
                        <a:t>about using </a:t>
                      </a:r>
                      <a:r>
                        <a:rPr lang="en-US" sz="1600" baseline="0" dirty="0" smtClean="0">
                          <a:solidFill>
                            <a:schemeClr val="accent2"/>
                          </a:solidFill>
                        </a:rPr>
                        <a:t>Visual Studio</a:t>
                      </a:r>
                      <a:r>
                        <a:rPr lang="en-US" sz="1600" baseline="0" dirty="0" smtClean="0"/>
                        <a:t>.</a:t>
                      </a:r>
                      <a:endParaRPr 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1</a:t>
                      </a:r>
                    </a:p>
                  </a:txBody>
                  <a:tcPr anchor="ctr"/>
                </a:tc>
              </a:tr>
              <a:tr h="547741">
                <a:tc vMerge="1"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/>
                        <a:t>Readability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 smtClean="0">
                          <a:solidFill>
                            <a:srgbClr val="FF0000"/>
                          </a:solidFill>
                        </a:rPr>
                        <a:t>Can</a:t>
                      </a: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 code </a:t>
                      </a:r>
                      <a:r>
                        <a:rPr lang="en-US" sz="1500" baseline="0" dirty="0" smtClean="0"/>
                        <a:t>following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coding rules</a:t>
                      </a: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but</a:t>
                      </a: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 not very well</a:t>
                      </a:r>
                      <a:r>
                        <a:rPr lang="en-US" sz="1500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.</a:t>
                      </a:r>
                      <a:endParaRPr lang="en-US" sz="15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1</a:t>
                      </a:r>
                    </a:p>
                  </a:txBody>
                  <a:tcPr anchor="ctr"/>
                </a:tc>
              </a:tr>
              <a:tr h="754227">
                <a:tc vMerge="1">
                  <a:txBody>
                    <a:bodyPr/>
                    <a:lstStyle/>
                    <a:p>
                      <a:pPr algn="ctr"/>
                      <a:endParaRPr lang="en-US" sz="15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/>
                        <a:t>Software development methodology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Lack of experience </a:t>
                      </a:r>
                      <a:r>
                        <a:rPr lang="en-US" sz="1500" baseline="0" dirty="0" smtClean="0"/>
                        <a:t>about object-oriented programing.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Lack of experience </a:t>
                      </a:r>
                      <a:r>
                        <a:rPr lang="en-US" sz="1500" baseline="0" dirty="0" smtClean="0"/>
                        <a:t>to design the structure of application and still need support to analysis/design function and the structure of application.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1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1" name="Rounded Rectangular Callout 10"/>
          <p:cNvSpPr/>
          <p:nvPr/>
        </p:nvSpPr>
        <p:spPr>
          <a:xfrm>
            <a:off x="11506200" y="2449724"/>
            <a:ext cx="2286000" cy="750675"/>
          </a:xfrm>
          <a:prstGeom prst="wedgeRoundRectCallout">
            <a:avLst>
              <a:gd name="adj1" fmla="val -201310"/>
              <a:gd name="adj2" fmla="val 11728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 </a:t>
            </a:r>
            <a:r>
              <a:rPr lang="en-US" sz="1400" dirty="0" err="1" smtClean="0"/>
              <a:t>định</a:t>
            </a:r>
            <a:r>
              <a:rPr lang="en-US" sz="1400" dirty="0" smtClean="0"/>
              <a:t> </a:t>
            </a:r>
            <a:r>
              <a:rPr lang="en-US" sz="1400" dirty="0" err="1" smtClean="0"/>
              <a:t>nghĩa</a:t>
            </a:r>
            <a:r>
              <a:rPr lang="en-US" sz="1400" dirty="0" smtClean="0"/>
              <a:t> simple function </a:t>
            </a:r>
            <a:r>
              <a:rPr lang="en-US" sz="1400" dirty="0" err="1" smtClean="0"/>
              <a:t>đối</a:t>
            </a:r>
            <a:r>
              <a:rPr lang="en-US" sz="1400" dirty="0" smtClean="0"/>
              <a:t> </a:t>
            </a:r>
            <a:r>
              <a:rPr lang="en-US" sz="1400" dirty="0" err="1" smtClean="0"/>
              <a:t>với</a:t>
            </a:r>
            <a:r>
              <a:rPr lang="en-US" sz="1400" dirty="0" smtClean="0"/>
              <a:t> e </a:t>
            </a:r>
            <a:r>
              <a:rPr lang="en-US" sz="1400" dirty="0" err="1" smtClean="0"/>
              <a:t>là</a:t>
            </a:r>
            <a:r>
              <a:rPr lang="en-US" sz="1400" dirty="0" smtClean="0"/>
              <a:t> </a:t>
            </a:r>
            <a:r>
              <a:rPr lang="en-US" sz="1400" dirty="0" err="1" smtClean="0"/>
              <a:t>gì</a:t>
            </a:r>
            <a:r>
              <a:rPr lang="en-US" sz="1400" dirty="0" smtClean="0"/>
              <a:t>. </a:t>
            </a:r>
            <a:r>
              <a:rPr lang="en-US" sz="1400" dirty="0" err="1" smtClean="0"/>
              <a:t>Vd</a:t>
            </a:r>
            <a:r>
              <a:rPr lang="en-US" sz="1400" dirty="0" smtClean="0"/>
              <a:t>: function &lt; 20LOCs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26874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Status(2/2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6</a:t>
            </a:fld>
            <a:endParaRPr lang="de-DE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45864"/>
              </p:ext>
            </p:extLst>
          </p:nvPr>
        </p:nvGraphicFramePr>
        <p:xfrm>
          <a:off x="304800" y="1143000"/>
          <a:ext cx="11734800" cy="3779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8550"/>
                <a:gridCol w="8096250"/>
              </a:tblGrid>
              <a:tr h="490489"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Common Skill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Current Status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719307">
                <a:tc>
                  <a:txBody>
                    <a:bodyPr/>
                    <a:lstStyle/>
                    <a:p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Development Process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Not understand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clearly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about development process.</a:t>
                      </a:r>
                    </a:p>
                  </a:txBody>
                  <a:tcPr anchor="ctr"/>
                </a:tc>
              </a:tr>
              <a:tr h="502837">
                <a:tc>
                  <a:txBody>
                    <a:bodyPr/>
                    <a:lstStyle/>
                    <a:p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Communication</a:t>
                      </a:r>
                      <a:endParaRPr kumimoji="1" lang="en-US" sz="15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Cannot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express idea clearly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 others. </a:t>
                      </a:r>
                    </a:p>
                  </a:txBody>
                  <a:tcPr anchor="ctr"/>
                </a:tc>
              </a:tr>
              <a:tr h="507746">
                <a:tc>
                  <a:txBody>
                    <a:bodyPr/>
                    <a:lstStyle/>
                    <a:p>
                      <a:pPr algn="l"/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Management 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Lack of experience of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task management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/>
                </a:tc>
              </a:tr>
              <a:tr h="502837">
                <a:tc>
                  <a:txBody>
                    <a:bodyPr/>
                    <a:lstStyle/>
                    <a:p>
                      <a:pPr algn="l"/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English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read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English documents.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Cannot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understand</a:t>
                      </a:r>
                      <a:r>
                        <a:rPr kumimoji="1" lang="en-US" sz="1500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all information in </a:t>
                      </a:r>
                      <a:r>
                        <a:rPr kumimoji="1" lang="en-US" sz="1500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F2F meeting with RSD</a:t>
                      </a:r>
                      <a:r>
                        <a:rPr kumimoji="1" lang="en-US" sz="1500" kern="1200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kumimoji="1" lang="en-US" sz="1500" b="0" i="0" u="none" strike="noStrike" kern="1200" baseline="0" dirty="0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07746">
                <a:tc>
                  <a:txBody>
                    <a:bodyPr/>
                    <a:lstStyle/>
                    <a:p>
                      <a:pPr algn="l"/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MCU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Just have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a little knowledge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of MCU architecture via basic training.</a:t>
                      </a:r>
                    </a:p>
                  </a:txBody>
                  <a:tcPr anchor="ctr"/>
                </a:tc>
              </a:tr>
              <a:tr h="502837">
                <a:tc>
                  <a:txBody>
                    <a:bodyPr/>
                    <a:lstStyle/>
                    <a:p>
                      <a:pPr algn="l"/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QC in 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Haven’t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collected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reported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QC data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by myself yet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52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Gaps Analysis and </a:t>
            </a:r>
            <a:r>
              <a:rPr lang="en-US" dirty="0" smtClean="0"/>
              <a:t>Solution(1/4)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7</a:t>
            </a:fld>
            <a:endParaRPr lang="de-DE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075648"/>
              </p:ext>
            </p:extLst>
          </p:nvPr>
        </p:nvGraphicFramePr>
        <p:xfrm>
          <a:off x="457200" y="1066800"/>
          <a:ext cx="11468065" cy="5123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3613"/>
                <a:gridCol w="2293613"/>
                <a:gridCol w="2293613"/>
                <a:gridCol w="2293613"/>
                <a:gridCol w="2293613"/>
              </a:tblGrid>
              <a:tr h="368389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Skill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Gap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Root</a:t>
                      </a:r>
                      <a:r>
                        <a:rPr lang="en-US" sz="1500" baseline="0" dirty="0" smtClean="0"/>
                        <a:t> Causes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Mentee’s action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Mentor’s action</a:t>
                      </a:r>
                    </a:p>
                  </a:txBody>
                  <a:tcPr anchor="ctr"/>
                </a:tc>
              </a:tr>
              <a:tr h="1912021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Software Functional Design</a:t>
                      </a:r>
                      <a:endParaRPr lang="en-US" sz="15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500" dirty="0" smtClean="0">
                          <a:solidFill>
                            <a:schemeClr val="accent2"/>
                          </a:solidFill>
                        </a:rPr>
                        <a:t>Lack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 of experience </a:t>
                      </a: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500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analyze</a:t>
                      </a:r>
                      <a:r>
                        <a:rPr lang="en-US" sz="1500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and 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create new </a:t>
                      </a: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Functional Specification from Requirement Design.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Haven’t known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about 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Functional Design before</a:t>
                      </a:r>
                      <a:r>
                        <a:rPr lang="en-US" sz="15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 smtClean="0"/>
                        <a:t>Spend time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to investigate</a:t>
                      </a:r>
                      <a:r>
                        <a:rPr lang="en-US" sz="1500" baseline="0" dirty="0" smtClean="0"/>
                        <a:t> old documents to understand 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Functional Design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Create a </a:t>
                      </a:r>
                      <a:r>
                        <a:rPr kumimoji="1" lang="en-US" sz="1500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simple component of functional design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confirm with mentor.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  <a:r>
                        <a:rPr lang="en-US" sz="1500" dirty="0" smtClean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understanding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sz="1500" baseline="0" dirty="0" smtClean="0"/>
                        <a:t>with mentee and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give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feedback/</a:t>
                      </a:r>
                      <a:r>
                        <a:rPr kumimoji="1" lang="en-US" sz="1500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guideline</a:t>
                      </a:r>
                      <a:r>
                        <a:rPr kumimoji="1" lang="en-US" sz="1500" kern="1200" baseline="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/>
                </a:tc>
              </a:tr>
              <a:tr h="2497875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Software</a:t>
                      </a:r>
                      <a:r>
                        <a:rPr lang="en-US" sz="1500" b="1" baseline="0" dirty="0" smtClean="0"/>
                        <a:t> </a:t>
                      </a:r>
                      <a:r>
                        <a:rPr lang="en-US" sz="1500" b="1" dirty="0" smtClean="0"/>
                        <a:t>Detailed Design</a:t>
                      </a:r>
                      <a:endParaRPr lang="en-US" sz="15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500" dirty="0" smtClean="0">
                          <a:solidFill>
                            <a:schemeClr val="accent2"/>
                          </a:solidFill>
                        </a:rPr>
                        <a:t>Lack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 of experience </a:t>
                      </a: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500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analyze</a:t>
                      </a:r>
                      <a:r>
                        <a:rPr lang="en-US" sz="1500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and 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create new </a:t>
                      </a: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Detailed Specification from Functional Specification.</a:t>
                      </a:r>
                      <a:endParaRPr lang="en-US" sz="15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500" baseline="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Haven’t known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about 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Detailed Design before</a:t>
                      </a:r>
                      <a:r>
                        <a:rPr lang="en-US" sz="15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500" dirty="0" smtClean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 smtClean="0"/>
                        <a:t>Knowledge</a:t>
                      </a:r>
                      <a:r>
                        <a:rPr lang="en-US" sz="1500" baseline="0" dirty="0" smtClean="0"/>
                        <a:t> of project structure is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not</a:t>
                      </a:r>
                      <a:r>
                        <a:rPr kumimoji="1" lang="en-US" sz="1500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enough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.</a:t>
                      </a:r>
                      <a:endParaRPr lang="en-US" sz="1500" dirty="0" smtClean="0">
                        <a:solidFill>
                          <a:schemeClr val="accent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500" dirty="0" smtClean="0"/>
                        <a:t>Spend time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to investigate</a:t>
                      </a:r>
                      <a:r>
                        <a:rPr lang="en-US" sz="1500" baseline="0" dirty="0" smtClean="0"/>
                        <a:t> old documents to understand 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Detailed Design </a:t>
                      </a:r>
                      <a:endParaRPr lang="en-US" sz="1500" dirty="0" smtClean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Create a </a:t>
                      </a:r>
                      <a:r>
                        <a:rPr kumimoji="1" lang="en-US" sz="1500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simple component of Detailed Design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from Functional Design with confirmation from mentor.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  <a:r>
                        <a:rPr lang="en-US" sz="1500" dirty="0" smtClean="0">
                          <a:solidFill>
                            <a:schemeClr val="accent2"/>
                          </a:solidFill>
                        </a:rPr>
                        <a:t> understanding</a:t>
                      </a:r>
                      <a:r>
                        <a:rPr lang="en-US" sz="1500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en-US" sz="1500" baseline="0" dirty="0" smtClean="0"/>
                        <a:t>with mentee and give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feedback/guideline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Share</a:t>
                      </a:r>
                      <a:r>
                        <a:rPr kumimoji="1" lang="en-US" sz="15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500" baseline="0" dirty="0" smtClean="0"/>
                        <a:t>design tips, techniques.</a:t>
                      </a:r>
                      <a:endParaRPr lang="en-US" sz="15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272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Gaps Analysis and </a:t>
            </a:r>
            <a:r>
              <a:rPr lang="en-US" dirty="0" smtClean="0"/>
              <a:t>Solution(2/4)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8</a:t>
            </a:fld>
            <a:endParaRPr lang="de-DE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113722"/>
              </p:ext>
            </p:extLst>
          </p:nvPr>
        </p:nvGraphicFramePr>
        <p:xfrm>
          <a:off x="479377" y="1345610"/>
          <a:ext cx="1124222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8445"/>
                <a:gridCol w="2248445"/>
                <a:gridCol w="2248445"/>
                <a:gridCol w="2248445"/>
                <a:gridCol w="2248445"/>
              </a:tblGrid>
              <a:tr h="30917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Skill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/>
                        <a:t>Gap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/>
                        <a:t>Root</a:t>
                      </a:r>
                      <a:r>
                        <a:rPr lang="en-US" sz="1500" baseline="0" smtClean="0"/>
                        <a:t> Causes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Mentee’s action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Mentor’s action</a:t>
                      </a:r>
                    </a:p>
                  </a:txBody>
                  <a:tcPr anchor="ctr"/>
                </a:tc>
              </a:tr>
              <a:tr h="1559915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Software</a:t>
                      </a:r>
                      <a:r>
                        <a:rPr lang="en-US" sz="1500" b="1" baseline="0" dirty="0" smtClean="0"/>
                        <a:t> </a:t>
                      </a:r>
                      <a:r>
                        <a:rPr lang="en-US" sz="1500" b="1" dirty="0" smtClean="0"/>
                        <a:t>Coding</a:t>
                      </a:r>
                      <a:endParaRPr lang="en-US" sz="15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Lack of experience</a:t>
                      </a:r>
                      <a:r>
                        <a:rPr kumimoji="1" lang="en-US" sz="1500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  <a:r>
                        <a:rPr kumimoji="1" lang="en-US" sz="1500" kern="1200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create</a:t>
                      </a:r>
                      <a:r>
                        <a:rPr kumimoji="1" lang="en-US" sz="1500" kern="1200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new</a:t>
                      </a:r>
                      <a:r>
                        <a:rPr kumimoji="1" lang="en-US" sz="1500" kern="1200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source</a:t>
                      </a:r>
                      <a:r>
                        <a:rPr kumimoji="1" lang="en-US" sz="1500" kern="1200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code</a:t>
                      </a:r>
                      <a:r>
                        <a:rPr kumimoji="1" lang="en-US" sz="1500" kern="1200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 RTOS Kernel from Detailed Design.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Haven’t developed </a:t>
                      </a:r>
                      <a:r>
                        <a:rPr lang="en-US" sz="1500" baseline="0" dirty="0" smtClean="0"/>
                        <a:t>RTOS Kernel before.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Investigate</a:t>
                      </a:r>
                      <a:r>
                        <a:rPr lang="en-US" sz="1500" baseline="0" dirty="0" smtClean="0"/>
                        <a:t> more source code from previous RTOS Kernel project to know how it works and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  <a:r>
                        <a:rPr lang="en-US" sz="1500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with Seniors/Leaders</a:t>
                      </a:r>
                      <a:r>
                        <a:rPr lang="en-US" sz="1500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Create new source code for current project and review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 it </a:t>
                      </a:r>
                      <a:r>
                        <a:rPr lang="en-US" sz="1500" baseline="0" dirty="0" smtClean="0"/>
                        <a:t>with mentor for pointing out issues.</a:t>
                      </a:r>
                      <a:endParaRPr lang="en-US" sz="15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Provide</a:t>
                      </a:r>
                      <a:r>
                        <a:rPr lang="en-US" sz="1500" baseline="0" dirty="0" smtClean="0"/>
                        <a:t> sample implementations.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Explain the structure </a:t>
                      </a:r>
                      <a:r>
                        <a:rPr lang="en-US" sz="1500" baseline="0" dirty="0" smtClean="0"/>
                        <a:t>of current source code and purpose of each module.</a:t>
                      </a:r>
                    </a:p>
                  </a:txBody>
                  <a:tcPr anchor="ctr"/>
                </a:tc>
              </a:tr>
              <a:tr h="1559915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Readability</a:t>
                      </a:r>
                      <a:endParaRPr lang="en-US" sz="15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500" dirty="0" smtClean="0"/>
                        <a:t>Can code following</a:t>
                      </a:r>
                      <a:r>
                        <a:rPr lang="en-US" sz="1500" baseline="0" dirty="0" smtClean="0"/>
                        <a:t> coding rules 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but not very well</a:t>
                      </a:r>
                      <a:r>
                        <a:rPr lang="en-US" sz="1500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500" dirty="0" smtClean="0">
                          <a:solidFill>
                            <a:schemeClr val="accent2"/>
                          </a:solidFill>
                        </a:rPr>
                        <a:t>Careless</a:t>
                      </a:r>
                      <a:r>
                        <a:rPr lang="en-US" sz="1500" dirty="0" smtClean="0"/>
                        <a:t> when create</a:t>
                      </a:r>
                      <a:r>
                        <a:rPr lang="en-US" sz="1500" baseline="0" dirty="0" smtClean="0"/>
                        <a:t> source code and keep the rules in mind.</a:t>
                      </a:r>
                      <a:endParaRPr lang="en-US" sz="15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 smtClean="0">
                          <a:solidFill>
                            <a:schemeClr val="accent2"/>
                          </a:solidFill>
                        </a:rPr>
                        <a:t>Use analyze tool and  coding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 rule checklist </a:t>
                      </a:r>
                      <a:r>
                        <a:rPr lang="en-US" sz="1500" baseline="0" dirty="0" smtClean="0"/>
                        <a:t>to remind myself.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Review</a:t>
                      </a:r>
                      <a:r>
                        <a:rPr lang="en-US" sz="1500" baseline="0" dirty="0" smtClean="0"/>
                        <a:t> source code with mentor after creation.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500" baseline="0" dirty="0" smtClean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Review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source code and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 confirm mentee’s understanding</a:t>
                      </a:r>
                      <a:r>
                        <a:rPr lang="en-US" sz="1500" baseline="0" dirty="0" smtClean="0"/>
                        <a:t>.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199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Gaps Analysis and </a:t>
            </a:r>
            <a:r>
              <a:rPr lang="en-US" dirty="0" smtClean="0"/>
              <a:t>Solution(3/4)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9</a:t>
            </a:fld>
            <a:endParaRPr lang="de-DE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187046"/>
              </p:ext>
            </p:extLst>
          </p:nvPr>
        </p:nvGraphicFramePr>
        <p:xfrm>
          <a:off x="477230" y="1055001"/>
          <a:ext cx="11340599" cy="5160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120"/>
                <a:gridCol w="2456605"/>
                <a:gridCol w="2079634"/>
                <a:gridCol w="2268120"/>
                <a:gridCol w="2268120"/>
              </a:tblGrid>
              <a:tr h="311069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Skill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/>
                        <a:t>Gap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/>
                        <a:t>Root</a:t>
                      </a:r>
                      <a:r>
                        <a:rPr lang="en-US" sz="1500" baseline="0" smtClean="0"/>
                        <a:t> Causes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Mentee’s action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Mentor’s action</a:t>
                      </a:r>
                    </a:p>
                  </a:txBody>
                  <a:tcPr anchor="ctr"/>
                </a:tc>
              </a:tr>
              <a:tr h="1517683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Development</a:t>
                      </a:r>
                    </a:p>
                    <a:p>
                      <a:pPr algn="l"/>
                      <a:r>
                        <a:rPr lang="en-US" sz="1500" b="1" dirty="0" smtClean="0"/>
                        <a:t>Environment</a:t>
                      </a:r>
                      <a:endParaRPr lang="en-US" sz="15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500" dirty="0" smtClean="0">
                          <a:solidFill>
                            <a:schemeClr val="accent2"/>
                          </a:solidFill>
                        </a:rPr>
                        <a:t>Lack of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 knowledge </a:t>
                      </a:r>
                      <a:r>
                        <a:rPr lang="en-US" sz="1500" baseline="0" dirty="0" smtClean="0"/>
                        <a:t>about target environment (AUTOSAR OS)</a:t>
                      </a:r>
                      <a:endParaRPr lang="en-US" sz="1500" baseline="0" dirty="0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Haven’t worked </a:t>
                      </a: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with AUTOSAR OS before.</a:t>
                      </a:r>
                      <a:endParaRPr lang="en-US" sz="15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5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Investigate</a:t>
                      </a:r>
                      <a:r>
                        <a:rPr lang="en-US" sz="1500" baseline="0" dirty="0" smtClean="0"/>
                        <a:t> the User Manual and previous project of AUTOSAR OS to </a:t>
                      </a: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understand</a:t>
                      </a:r>
                      <a:r>
                        <a:rPr lang="en-US" sz="1500" baseline="0" dirty="0" smtClean="0"/>
                        <a:t> about it.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500" baseline="0" dirty="0" smtClean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Provide</a:t>
                      </a:r>
                      <a:r>
                        <a:rPr lang="en-US" sz="1500" baseline="0" dirty="0" smtClean="0"/>
                        <a:t> necessary documents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Confirm</a:t>
                      </a:r>
                      <a:r>
                        <a:rPr lang="en-US" sz="1500" baseline="0" dirty="0" smtClean="0"/>
                        <a:t> about the knowledge of AUTOSAR OS.</a:t>
                      </a:r>
                    </a:p>
                  </a:txBody>
                  <a:tcPr anchor="ctr"/>
                </a:tc>
              </a:tr>
              <a:tr h="2088608">
                <a:tc>
                  <a:txBody>
                    <a:bodyPr/>
                    <a:lstStyle/>
                    <a:p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Development Process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Cannot understand and follow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development process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without supports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experienced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engineers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5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Lack of knowledge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about current development process.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Haven’t worked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under current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development processes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before</a:t>
                      </a:r>
                      <a:r>
                        <a:rPr lang="en-US" sz="1500" baseline="0" dirty="0" smtClean="0"/>
                        <a:t>.</a:t>
                      </a:r>
                      <a:endParaRPr lang="en-US" sz="15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Investigate</a:t>
                      </a:r>
                      <a:r>
                        <a:rPr kumimoji="1" lang="en-US" sz="1500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development process and </a:t>
                      </a:r>
                      <a:r>
                        <a:rPr kumimoji="1" lang="en-US" sz="1500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with mentor.</a:t>
                      </a:r>
                      <a:endParaRPr lang="en-US" sz="15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Try to</a:t>
                      </a:r>
                      <a:r>
                        <a:rPr kumimoji="1" lang="en-US" sz="1500" kern="120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follow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the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development process </a:t>
                      </a:r>
                      <a:r>
                        <a:rPr kumimoji="1" lang="en-US" sz="1500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step by step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5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Check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 the output </a:t>
                      </a:r>
                      <a:r>
                        <a:rPr lang="en-US" sz="1500" baseline="0" dirty="0" smtClean="0"/>
                        <a:t>and give feedback.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Confirm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 explain</a:t>
                      </a:r>
                      <a:r>
                        <a:rPr kumimoji="1" lang="en-US" sz="1500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 misunderstanding point 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mentee.</a:t>
                      </a:r>
                      <a:endParaRPr lang="en-US" sz="150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1199839">
                <a:tc>
                  <a:txBody>
                    <a:bodyPr/>
                    <a:lstStyle/>
                    <a:p>
                      <a:pPr algn="l"/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Management 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Cannot</a:t>
                      </a:r>
                      <a:r>
                        <a:rPr kumimoji="1" lang="en-US" sz="1500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schedule 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assigned task </a:t>
                      </a:r>
                      <a:r>
                        <a:rPr kumimoji="1" lang="en-US" sz="1500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effectively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also </a:t>
                      </a:r>
                      <a:r>
                        <a:rPr kumimoji="1" lang="en-US" sz="1500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unpredictable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common risks of tasks.</a:t>
                      </a:r>
                      <a:endParaRPr lang="en-US" sz="150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500" dirty="0" smtClean="0"/>
                        <a:t>Lack of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working experience</a:t>
                      </a:r>
                      <a:r>
                        <a:rPr kumimoji="1" lang="en-US" sz="1500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5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Refer to advice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en-US" sz="1500" dirty="0" smtClean="0">
                          <a:solidFill>
                            <a:schemeClr val="tx1"/>
                          </a:solidFill>
                        </a:rPr>
                        <a:t> seniors/mentor for </a:t>
                      </a:r>
                      <a:r>
                        <a:rPr lang="en-US" sz="1500" dirty="0" smtClean="0">
                          <a:solidFill>
                            <a:srgbClr val="FF0000"/>
                          </a:solidFill>
                        </a:rPr>
                        <a:t>planning</a:t>
                      </a: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 task</a:t>
                      </a:r>
                      <a:r>
                        <a:rPr lang="en-US" sz="1500" baseline="0" dirty="0" smtClean="0"/>
                        <a:t> and </a:t>
                      </a: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risks analyzing</a:t>
                      </a:r>
                      <a:r>
                        <a:rPr lang="en-US" sz="1500" baseline="0" dirty="0" smtClean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Share tips </a:t>
                      </a:r>
                      <a:r>
                        <a:rPr lang="en-US" sz="1500" baseline="0" dirty="0" smtClean="0"/>
                        <a:t>and </a:t>
                      </a:r>
                      <a:r>
                        <a:rPr kumimoji="1" lang="en-US" sz="1500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xperience</a:t>
                      </a:r>
                      <a:r>
                        <a:rPr lang="en-US" sz="1500" baseline="0" dirty="0" smtClean="0"/>
                        <a:t> about project estimation and planning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3320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533400"/>
            <a:ext cx="11242224" cy="443198"/>
          </a:xfrm>
        </p:spPr>
        <p:txBody>
          <a:bodyPr/>
          <a:lstStyle/>
          <a:p>
            <a:r>
              <a:rPr lang="en-US" dirty="0"/>
              <a:t>Gaps Analysis and </a:t>
            </a:r>
            <a:r>
              <a:rPr lang="en-US" dirty="0" smtClean="0"/>
              <a:t>Solution(4/4)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10</a:t>
            </a:fld>
            <a:endParaRPr lang="de-DE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520287"/>
              </p:ext>
            </p:extLst>
          </p:nvPr>
        </p:nvGraphicFramePr>
        <p:xfrm>
          <a:off x="457200" y="1143000"/>
          <a:ext cx="11506200" cy="582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1240"/>
                <a:gridCol w="2270760"/>
                <a:gridCol w="2331720"/>
                <a:gridCol w="2301240"/>
                <a:gridCol w="230124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Skill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/>
                        <a:t>Gap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/>
                        <a:t>Root</a:t>
                      </a:r>
                      <a:r>
                        <a:rPr lang="en-US" sz="1500" baseline="0" smtClean="0"/>
                        <a:t> Causes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Mentee’s action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Mentor’s action</a:t>
                      </a:r>
                    </a:p>
                  </a:txBody>
                  <a:tcPr anchor="ctr"/>
                </a:tc>
              </a:tr>
              <a:tr h="2270760">
                <a:tc>
                  <a:txBody>
                    <a:bodyPr/>
                    <a:lstStyle/>
                    <a:p>
                      <a:pPr algn="l"/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English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Discussion with customer in English is not fluently</a:t>
                      </a:r>
                      <a:endParaRPr kumimoji="1" lang="en-US" sz="15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sz="1500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Still only read 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kumimoji="1" lang="en-US" sz="1500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write basic 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</a:t>
                      </a:r>
                      <a:endParaRPr kumimoji="1" lang="en-US" sz="15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 smtClean="0"/>
                        <a:t>Lack of</a:t>
                      </a:r>
                      <a:r>
                        <a:rPr lang="en-US" sz="1500" baseline="0" dirty="0" smtClean="0"/>
                        <a:t> 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vocabulary</a:t>
                      </a:r>
                      <a:r>
                        <a:rPr lang="en-US" sz="1500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500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practice time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Don’t have experience on communicating in English</a:t>
                      </a:r>
                      <a:endParaRPr lang="en-US" sz="150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Try to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communicate in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English,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learn more vocabularies,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 more technical documents, listen to </a:t>
                      </a:r>
                      <a:r>
                        <a:rPr kumimoji="1" lang="en-US" sz="15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english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speeches at non-working time.</a:t>
                      </a:r>
                      <a:endParaRPr kumimoji="1" lang="en-US" sz="15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Join English</a:t>
                      </a:r>
                      <a:r>
                        <a:rPr kumimoji="1" lang="en-US" sz="1500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 course 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achieve</a:t>
                      </a:r>
                      <a:r>
                        <a:rPr kumimoji="1" lang="en-US" sz="1500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baseline="0" dirty="0" err="1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Toeic</a:t>
                      </a:r>
                      <a:r>
                        <a:rPr kumimoji="1" lang="en-US" sz="1500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 700</a:t>
                      </a:r>
                      <a:endParaRPr kumimoji="1" lang="en-US" sz="1500" kern="1200" dirty="0" smtClean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Give mentee a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chance</a:t>
                      </a:r>
                      <a:r>
                        <a:rPr kumimoji="1" lang="en-US" sz="1500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 to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communicate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with customer in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English</a:t>
                      </a:r>
                    </a:p>
                  </a:txBody>
                  <a:tcPr anchor="ctr"/>
                </a:tc>
              </a:tr>
              <a:tr h="275519">
                <a:tc>
                  <a:txBody>
                    <a:bodyPr/>
                    <a:lstStyle/>
                    <a:p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QC in 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Cannot collect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report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QC data by myself.</a:t>
                      </a:r>
                      <a:endParaRPr lang="en-US" sz="1500" baseline="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 smtClean="0">
                          <a:solidFill>
                            <a:schemeClr val="accent2"/>
                          </a:solidFill>
                        </a:rPr>
                        <a:t>Lack of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 experience </a:t>
                      </a:r>
                      <a:r>
                        <a:rPr lang="en-US" sz="1500" baseline="0" dirty="0" smtClean="0"/>
                        <a:t>with QC activities before.</a:t>
                      </a:r>
                      <a:endParaRPr lang="en-US" sz="15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Try</a:t>
                      </a:r>
                      <a:r>
                        <a:rPr kumimoji="1" lang="en-US" sz="15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to</a:t>
                      </a:r>
                      <a:r>
                        <a:rPr kumimoji="1" lang="en-US" sz="1500" kern="1200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ollect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 data </a:t>
                      </a:r>
                      <a:r>
                        <a:rPr lang="en-US" sz="1500" baseline="0" dirty="0" smtClean="0"/>
                        <a:t>and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review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 report </a:t>
                      </a:r>
                      <a:r>
                        <a:rPr lang="en-US" sz="1500" baseline="0" dirty="0" smtClean="0"/>
                        <a:t>with mentor.</a:t>
                      </a:r>
                      <a:endParaRPr kumimoji="1" lang="en-US" sz="1500" kern="1200" dirty="0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Read QC</a:t>
                      </a:r>
                      <a:r>
                        <a:rPr kumimoji="1" lang="en-US" sz="1500" kern="1200" baseline="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 report </a:t>
                      </a:r>
                      <a:r>
                        <a:rPr lang="en-US" sz="1500" baseline="0" dirty="0" smtClean="0"/>
                        <a:t>and try to 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follow</a:t>
                      </a:r>
                      <a:r>
                        <a:rPr lang="en-US" sz="1500" baseline="0" dirty="0" smtClean="0"/>
                        <a:t> it 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step by step</a:t>
                      </a:r>
                      <a:r>
                        <a:rPr lang="en-US" sz="1500" baseline="0" dirty="0" smtClean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Check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feedback</a:t>
                      </a:r>
                      <a:r>
                        <a:rPr kumimoji="1" lang="en-US" sz="1500" kern="120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collected QC data of Mentee.</a:t>
                      </a:r>
                      <a:endParaRPr lang="en-US" sz="150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275519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MCU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Don’t have much knowledge </a:t>
                      </a:r>
                      <a:r>
                        <a:rPr lang="en-US" sz="1500" baseline="0" dirty="0" smtClean="0"/>
                        <a:t>about MCU architecture in current project.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Just have k</a:t>
                      </a: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nown 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basic knowledge </a:t>
                      </a: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about</a:t>
                      </a:r>
                      <a:r>
                        <a:rPr lang="en-US" sz="1500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en-US" sz="1500" baseline="0" dirty="0" smtClean="0"/>
                        <a:t>MCU since joining RVC.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baseline="0" dirty="0" smtClean="0"/>
                        <a:t>Lack of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experience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 in working</a:t>
                      </a:r>
                      <a:r>
                        <a:rPr lang="en-US" sz="1500" baseline="0" dirty="0" smtClean="0"/>
                        <a:t> with </a:t>
                      </a:r>
                      <a:r>
                        <a:rPr lang="en-US" sz="1500" baseline="0" dirty="0" err="1" smtClean="0"/>
                        <a:t>Renesas</a:t>
                      </a:r>
                      <a:r>
                        <a:rPr lang="en-US" sz="1500" baseline="0" dirty="0" smtClean="0"/>
                        <a:t> MCU</a:t>
                      </a:r>
                      <a:endParaRPr lang="en-US" sz="15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Spend time </a:t>
                      </a: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to </a:t>
                      </a:r>
                      <a:r>
                        <a:rPr lang="en-US" sz="1500" baseline="0" dirty="0" smtClean="0">
                          <a:solidFill>
                            <a:schemeClr val="accent2"/>
                          </a:solidFill>
                        </a:rPr>
                        <a:t>investigate</a:t>
                      </a:r>
                      <a:r>
                        <a:rPr lang="en-US" sz="1500" baseline="0" dirty="0" smtClean="0"/>
                        <a:t> MCU manual to know its operation. After that,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confirm knowledge</a:t>
                      </a:r>
                      <a:r>
                        <a:rPr kumimoji="1" lang="en-US" sz="1500" kern="120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500" baseline="0" dirty="0" smtClean="0"/>
                        <a:t>with Seniors/Leaders.</a:t>
                      </a:r>
                      <a:endParaRPr lang="en-US" sz="15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Provide</a:t>
                      </a:r>
                      <a:r>
                        <a:rPr kumimoji="1" lang="en-US" sz="1500" kern="120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hardware document</a:t>
                      </a:r>
                      <a:r>
                        <a:rPr kumimoji="1" lang="en-US" sz="1500" kern="120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and </a:t>
                      </a:r>
                      <a:r>
                        <a:rPr kumimoji="1" lang="en-US" sz="15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explain</a:t>
                      </a:r>
                      <a:r>
                        <a:rPr lang="en-US" sz="1500" baseline="0" dirty="0" smtClean="0"/>
                        <a:t> unclear information.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ounded Rectangular Callout 5"/>
          <p:cNvSpPr/>
          <p:nvPr/>
        </p:nvSpPr>
        <p:spPr>
          <a:xfrm>
            <a:off x="-76200" y="-30544"/>
            <a:ext cx="2895600" cy="1571086"/>
          </a:xfrm>
          <a:prstGeom prst="wedgeRoundRectCallout">
            <a:avLst>
              <a:gd name="adj1" fmla="val 60991"/>
              <a:gd name="adj2" fmla="val 17797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 </a:t>
            </a:r>
            <a:r>
              <a:rPr lang="en-US" sz="1400" dirty="0" err="1" smtClean="0"/>
              <a:t>nói</a:t>
            </a:r>
            <a:r>
              <a:rPr lang="en-US" sz="1400" dirty="0" smtClean="0"/>
              <a:t> </a:t>
            </a:r>
            <a:r>
              <a:rPr lang="en-US" sz="1400" dirty="0" err="1" smtClean="0"/>
              <a:t>thực</a:t>
            </a:r>
            <a:r>
              <a:rPr lang="en-US" sz="1400" dirty="0" smtClean="0"/>
              <a:t> </a:t>
            </a:r>
            <a:r>
              <a:rPr lang="en-US" sz="1400" dirty="0" err="1" smtClean="0"/>
              <a:t>tế</a:t>
            </a:r>
            <a:r>
              <a:rPr lang="en-US" sz="1400" dirty="0" smtClean="0"/>
              <a:t> </a:t>
            </a:r>
            <a:r>
              <a:rPr lang="en-US" sz="1400" dirty="0" err="1" smtClean="0"/>
              <a:t>đi</a:t>
            </a:r>
            <a:r>
              <a:rPr lang="en-US" sz="1400" dirty="0" smtClean="0"/>
              <a:t>.</a:t>
            </a:r>
            <a:br>
              <a:rPr lang="en-US" sz="1400" dirty="0" smtClean="0"/>
            </a:br>
            <a:r>
              <a:rPr lang="en-US" sz="1400" dirty="0" err="1" smtClean="0"/>
              <a:t>Vd</a:t>
            </a:r>
            <a:r>
              <a:rPr lang="en-US" sz="1400" dirty="0" smtClean="0"/>
              <a:t>: </a:t>
            </a:r>
            <a:r>
              <a:rPr lang="en-US" sz="1400" dirty="0" err="1" smtClean="0"/>
              <a:t>Chỉ</a:t>
            </a:r>
            <a:r>
              <a:rPr lang="en-US" sz="1400" dirty="0" smtClean="0"/>
              <a:t> </a:t>
            </a:r>
            <a:r>
              <a:rPr lang="en-US" sz="1400" dirty="0" err="1" smtClean="0"/>
              <a:t>đọc</a:t>
            </a:r>
            <a:r>
              <a:rPr lang="en-US" sz="1400" dirty="0" smtClean="0"/>
              <a:t> </a:t>
            </a:r>
            <a:r>
              <a:rPr lang="en-US" sz="1400" dirty="0" err="1" smtClean="0"/>
              <a:t>hiểu</a:t>
            </a:r>
            <a:r>
              <a:rPr lang="en-US" sz="1400" dirty="0" smtClean="0"/>
              <a:t> </a:t>
            </a:r>
            <a:r>
              <a:rPr lang="en-US" sz="1400" dirty="0" err="1" smtClean="0"/>
              <a:t>tại</a:t>
            </a:r>
            <a:r>
              <a:rPr lang="en-US" sz="1400" dirty="0" smtClean="0"/>
              <a:t> </a:t>
            </a:r>
            <a:r>
              <a:rPr lang="en-US" sz="1400" dirty="0" err="1" smtClean="0"/>
              <a:t>liệu</a:t>
            </a:r>
            <a:r>
              <a:rPr lang="en-US" sz="1400" dirty="0" smtClean="0"/>
              <a:t> </a:t>
            </a:r>
            <a:r>
              <a:rPr lang="en-US" sz="1400" dirty="0" err="1" smtClean="0"/>
              <a:t>và</a:t>
            </a:r>
            <a:r>
              <a:rPr lang="en-US" sz="1400" dirty="0" smtClean="0"/>
              <a:t> </a:t>
            </a:r>
            <a:r>
              <a:rPr lang="en-US" sz="1400" dirty="0" err="1" smtClean="0"/>
              <a:t>viết</a:t>
            </a:r>
            <a:r>
              <a:rPr lang="en-US" sz="1400" dirty="0" smtClean="0"/>
              <a:t> </a:t>
            </a:r>
            <a:r>
              <a:rPr lang="en-US" sz="1400" dirty="0" err="1" smtClean="0"/>
              <a:t>cơ</a:t>
            </a:r>
            <a:r>
              <a:rPr lang="en-US" sz="1400" dirty="0" smtClean="0"/>
              <a:t> </a:t>
            </a:r>
            <a:r>
              <a:rPr lang="en-US" sz="1400" dirty="0" err="1" smtClean="0"/>
              <a:t>bản</a:t>
            </a:r>
            <a:r>
              <a:rPr lang="en-US" sz="1400" dirty="0" smtClean="0"/>
              <a:t>. </a:t>
            </a:r>
            <a:r>
              <a:rPr lang="en-US" sz="1400" dirty="0" err="1" smtClean="0"/>
              <a:t>Chưa</a:t>
            </a:r>
            <a:r>
              <a:rPr lang="en-US" sz="1400" dirty="0" smtClean="0"/>
              <a:t> </a:t>
            </a:r>
            <a:r>
              <a:rPr lang="en-US" sz="1400" dirty="0" err="1" smtClean="0"/>
              <a:t>thể</a:t>
            </a:r>
            <a:r>
              <a:rPr lang="en-US" sz="1400" dirty="0" smtClean="0"/>
              <a:t> </a:t>
            </a:r>
            <a:r>
              <a:rPr lang="en-US" sz="1400" dirty="0" err="1" smtClean="0"/>
              <a:t>giao</a:t>
            </a:r>
            <a:r>
              <a:rPr lang="en-US" sz="1400" dirty="0" smtClean="0"/>
              <a:t> </a:t>
            </a:r>
            <a:r>
              <a:rPr lang="en-US" sz="1400" dirty="0" err="1" smtClean="0"/>
              <a:t>tiếp</a:t>
            </a:r>
            <a:r>
              <a:rPr lang="en-US" sz="1400" dirty="0" smtClean="0"/>
              <a:t>/discuss </a:t>
            </a:r>
            <a:r>
              <a:rPr lang="en-US" sz="1400" dirty="0" err="1" smtClean="0"/>
              <a:t>với</a:t>
            </a:r>
            <a:r>
              <a:rPr lang="en-US" sz="1400" dirty="0" smtClean="0"/>
              <a:t> </a:t>
            </a:r>
            <a:r>
              <a:rPr lang="en-US" sz="1400" dirty="0" err="1" smtClean="0"/>
              <a:t>khác</a:t>
            </a:r>
            <a:r>
              <a:rPr lang="en-US" sz="1400" dirty="0" smtClean="0"/>
              <a:t> </a:t>
            </a:r>
            <a:r>
              <a:rPr lang="en-US" sz="1400" dirty="0" err="1" smtClean="0"/>
              <a:t>hàng</a:t>
            </a:r>
            <a:endParaRPr lang="en-US" sz="1400" dirty="0" smtClean="0"/>
          </a:p>
          <a:p>
            <a:pPr algn="ctr"/>
            <a:r>
              <a:rPr lang="en-US" sz="1400" dirty="0" smtClean="0"/>
              <a:t>-&gt; </a:t>
            </a:r>
            <a:r>
              <a:rPr lang="en-US" sz="1400" dirty="0" err="1" smtClean="0"/>
              <a:t>Tìm</a:t>
            </a:r>
            <a:r>
              <a:rPr lang="en-US" sz="1400" dirty="0" smtClean="0"/>
              <a:t> root cause </a:t>
            </a:r>
            <a:r>
              <a:rPr lang="en-US" sz="1400" dirty="0" err="1" smtClean="0"/>
              <a:t>và</a:t>
            </a:r>
            <a:r>
              <a:rPr lang="en-US" sz="1400" dirty="0" smtClean="0"/>
              <a:t> action </a:t>
            </a:r>
            <a:r>
              <a:rPr lang="en-US" sz="1400" dirty="0" err="1" smtClean="0"/>
              <a:t>tương</a:t>
            </a:r>
            <a:r>
              <a:rPr lang="en-US" sz="1400" dirty="0" smtClean="0"/>
              <a:t> </a:t>
            </a:r>
            <a:r>
              <a:rPr lang="en-US" sz="1400" dirty="0" err="1" smtClean="0"/>
              <a:t>ứng</a:t>
            </a:r>
            <a:endParaRPr lang="en-US" sz="1400" dirty="0" smtClean="0"/>
          </a:p>
          <a:p>
            <a:pPr algn="ctr"/>
            <a:r>
              <a:rPr lang="en-US" sz="1400" dirty="0" smtClean="0"/>
              <a:t>E </a:t>
            </a:r>
            <a:r>
              <a:rPr lang="en-US" sz="1400" dirty="0" err="1" smtClean="0"/>
              <a:t>đang</a:t>
            </a:r>
            <a:r>
              <a:rPr lang="en-US" sz="1400" dirty="0" smtClean="0"/>
              <a:t> </a:t>
            </a:r>
            <a:r>
              <a:rPr lang="en-US" sz="1400" dirty="0" err="1" smtClean="0"/>
              <a:t>để</a:t>
            </a:r>
            <a:r>
              <a:rPr lang="en-US" sz="1400" dirty="0" smtClean="0"/>
              <a:t> </a:t>
            </a:r>
            <a:r>
              <a:rPr lang="en-US" sz="1400" dirty="0" err="1" smtClean="0"/>
              <a:t>mục</a:t>
            </a:r>
            <a:r>
              <a:rPr lang="en-US" sz="1400" dirty="0" smtClean="0"/>
              <a:t> </a:t>
            </a:r>
            <a:r>
              <a:rPr lang="en-US" sz="1400" dirty="0" err="1" smtClean="0"/>
              <a:t>tiêu</a:t>
            </a:r>
            <a:r>
              <a:rPr lang="en-US" sz="1400" dirty="0" smtClean="0"/>
              <a:t> </a:t>
            </a:r>
            <a:r>
              <a:rPr lang="en-US" sz="1400" dirty="0" err="1" smtClean="0"/>
              <a:t>là</a:t>
            </a:r>
            <a:r>
              <a:rPr lang="en-US" sz="1400" dirty="0" smtClean="0"/>
              <a:t> TOIEC 700 </a:t>
            </a:r>
            <a:r>
              <a:rPr lang="en-US" sz="1400" dirty="0" err="1" smtClean="0"/>
              <a:t>thì</a:t>
            </a:r>
            <a:r>
              <a:rPr lang="en-US" sz="1400" dirty="0" smtClean="0"/>
              <a:t> </a:t>
            </a:r>
            <a:r>
              <a:rPr lang="en-US" sz="1400" dirty="0" err="1" smtClean="0"/>
              <a:t>phải</a:t>
            </a:r>
            <a:r>
              <a:rPr lang="en-US" sz="1400" dirty="0" smtClean="0"/>
              <a:t> </a:t>
            </a:r>
            <a:r>
              <a:rPr lang="en-US" sz="1400" dirty="0" err="1" smtClean="0"/>
              <a:t>có</a:t>
            </a:r>
            <a:r>
              <a:rPr lang="en-US" sz="1400" dirty="0" smtClean="0"/>
              <a:t> Action </a:t>
            </a:r>
            <a:r>
              <a:rPr lang="en-US" sz="1400" dirty="0" err="1" smtClean="0"/>
              <a:t>tương</a:t>
            </a:r>
            <a:r>
              <a:rPr lang="en-US" sz="1400" dirty="0" smtClean="0"/>
              <a:t> </a:t>
            </a:r>
            <a:r>
              <a:rPr lang="en-US" sz="1400" dirty="0" err="1" smtClean="0"/>
              <a:t>ứng</a:t>
            </a:r>
            <a:r>
              <a:rPr lang="en-US" sz="1400" dirty="0" smtClean="0"/>
              <a:t> </a:t>
            </a:r>
            <a:r>
              <a:rPr lang="en-US" sz="1400" dirty="0" err="1" smtClean="0"/>
              <a:t>nhé</a:t>
            </a:r>
            <a:endParaRPr lang="en-US" sz="1400" dirty="0"/>
          </a:p>
        </p:txBody>
      </p:sp>
      <p:sp>
        <p:nvSpPr>
          <p:cNvPr id="7" name="Rounded Rectangular Callout 6"/>
          <p:cNvSpPr/>
          <p:nvPr/>
        </p:nvSpPr>
        <p:spPr>
          <a:xfrm>
            <a:off x="7889631" y="1295400"/>
            <a:ext cx="4038600" cy="1571086"/>
          </a:xfrm>
          <a:prstGeom prst="wedgeRoundRectCallout">
            <a:avLst>
              <a:gd name="adj1" fmla="val -155456"/>
              <a:gd name="adj2" fmla="val 7732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Thường</a:t>
            </a:r>
            <a:r>
              <a:rPr lang="en-US" sz="1400" dirty="0" smtClean="0"/>
              <a:t> </a:t>
            </a:r>
            <a:r>
              <a:rPr lang="en-US" sz="1400" dirty="0" err="1" smtClean="0"/>
              <a:t>thì</a:t>
            </a:r>
            <a:r>
              <a:rPr lang="en-US" sz="1400" dirty="0" smtClean="0"/>
              <a:t> e </a:t>
            </a:r>
            <a:r>
              <a:rPr lang="en-US" sz="1400" dirty="0" err="1" smtClean="0"/>
              <a:t>sẽ</a:t>
            </a:r>
            <a:r>
              <a:rPr lang="en-US" sz="1400" dirty="0" smtClean="0"/>
              <a:t> </a:t>
            </a:r>
            <a:r>
              <a:rPr lang="en-US" sz="1400" dirty="0" err="1" smtClean="0"/>
              <a:t>bị</a:t>
            </a:r>
            <a:r>
              <a:rPr lang="en-US" sz="1400" dirty="0" smtClean="0"/>
              <a:t> </a:t>
            </a:r>
            <a:r>
              <a:rPr lang="en-US" sz="1400" dirty="0" err="1" smtClean="0"/>
              <a:t>hỏi</a:t>
            </a:r>
            <a:r>
              <a:rPr lang="en-US" sz="1400" dirty="0" smtClean="0"/>
              <a:t> </a:t>
            </a:r>
            <a:r>
              <a:rPr lang="en-US" sz="1400" dirty="0" err="1" smtClean="0"/>
              <a:t>là</a:t>
            </a:r>
            <a:r>
              <a:rPr lang="en-US" sz="1400" dirty="0" smtClean="0"/>
              <a:t> what kind of documents. </a:t>
            </a:r>
            <a:endParaRPr lang="en-US" sz="1400" dirty="0" smtClean="0"/>
          </a:p>
          <a:p>
            <a:pPr algn="ctr"/>
            <a:r>
              <a:rPr lang="en-US" sz="1400" dirty="0" err="1" smtClean="0"/>
              <a:t>Nhi’s</a:t>
            </a:r>
            <a:r>
              <a:rPr lang="en-US" sz="1400" dirty="0" smtClean="0"/>
              <a:t> comment: N </a:t>
            </a:r>
            <a:r>
              <a:rPr lang="en-US" sz="1400" dirty="0" err="1" smtClean="0"/>
              <a:t>nghĩ</a:t>
            </a:r>
            <a:r>
              <a:rPr lang="en-US" sz="1400" dirty="0" smtClean="0"/>
              <a:t> </a:t>
            </a:r>
            <a:r>
              <a:rPr lang="en-US" sz="1400" dirty="0" err="1" smtClean="0"/>
              <a:t>trong</a:t>
            </a:r>
            <a:r>
              <a:rPr lang="en-US" sz="1400" dirty="0" smtClean="0"/>
              <a:t> slide </a:t>
            </a:r>
            <a:r>
              <a:rPr lang="en-US" sz="1400" dirty="0" err="1" smtClean="0"/>
              <a:t>cứ</a:t>
            </a:r>
            <a:r>
              <a:rPr lang="en-US" sz="1400" dirty="0" smtClean="0"/>
              <a:t> </a:t>
            </a:r>
            <a:r>
              <a:rPr lang="en-US" sz="1400" dirty="0" err="1" smtClean="0"/>
              <a:t>để</a:t>
            </a:r>
            <a:r>
              <a:rPr lang="en-US" sz="1400" dirty="0" smtClean="0"/>
              <a:t> “basic doc” </a:t>
            </a:r>
            <a:r>
              <a:rPr lang="en-US" sz="1400" dirty="0" err="1" smtClean="0"/>
              <a:t>thôi</a:t>
            </a:r>
            <a:r>
              <a:rPr lang="en-US" sz="1400" dirty="0" smtClean="0"/>
              <a:t>, </a:t>
            </a:r>
            <a:r>
              <a:rPr lang="en-US" sz="1400" dirty="0" err="1" smtClean="0"/>
              <a:t>khi</a:t>
            </a:r>
            <a:r>
              <a:rPr lang="en-US" sz="1400" dirty="0" smtClean="0"/>
              <a:t> </a:t>
            </a:r>
            <a:r>
              <a:rPr lang="en-US" sz="1400" dirty="0" err="1" smtClean="0"/>
              <a:t>ổng</a:t>
            </a:r>
            <a:r>
              <a:rPr lang="en-US" sz="1400" dirty="0" smtClean="0"/>
              <a:t> </a:t>
            </a:r>
            <a:r>
              <a:rPr lang="en-US" sz="1400" dirty="0" err="1" smtClean="0"/>
              <a:t>hỏi</a:t>
            </a:r>
            <a:r>
              <a:rPr lang="en-US" sz="1400" dirty="0" smtClean="0"/>
              <a:t> </a:t>
            </a:r>
            <a:r>
              <a:rPr lang="en-US" sz="1400" dirty="0" err="1" smtClean="0"/>
              <a:t>thì</a:t>
            </a:r>
            <a:r>
              <a:rPr lang="en-US" sz="1400" dirty="0" smtClean="0"/>
              <a:t> </a:t>
            </a:r>
            <a:r>
              <a:rPr lang="en-US" sz="1400" dirty="0" err="1" smtClean="0"/>
              <a:t>mình</a:t>
            </a:r>
            <a:r>
              <a:rPr lang="en-US" sz="1400" dirty="0" smtClean="0"/>
              <a:t> </a:t>
            </a:r>
            <a:r>
              <a:rPr lang="en-US" sz="1400" dirty="0" err="1" smtClean="0"/>
              <a:t>nói</a:t>
            </a:r>
            <a:r>
              <a:rPr lang="en-US" sz="1400" dirty="0" smtClean="0"/>
              <a:t> “requirement, manual,…” </a:t>
            </a:r>
            <a:r>
              <a:rPr lang="en-US" sz="1400" dirty="0" err="1" smtClean="0"/>
              <a:t>chứ</a:t>
            </a:r>
            <a:r>
              <a:rPr lang="en-US" sz="1400" dirty="0" smtClean="0"/>
              <a:t> </a:t>
            </a:r>
            <a:r>
              <a:rPr lang="en-US" sz="1400" dirty="0" err="1" smtClean="0"/>
              <a:t>bỏ</a:t>
            </a:r>
            <a:r>
              <a:rPr lang="en-US" sz="1400" dirty="0" smtClean="0"/>
              <a:t> </a:t>
            </a:r>
            <a:r>
              <a:rPr lang="en-US" sz="1400" dirty="0" err="1" smtClean="0"/>
              <a:t>vô</a:t>
            </a:r>
            <a:r>
              <a:rPr lang="en-US" sz="1400" dirty="0" smtClean="0"/>
              <a:t> </a:t>
            </a:r>
            <a:r>
              <a:rPr lang="en-US" sz="1400" dirty="0" err="1" smtClean="0"/>
              <a:t>rồi</a:t>
            </a:r>
            <a:r>
              <a:rPr lang="en-US" sz="1400" dirty="0" smtClean="0"/>
              <a:t> </a:t>
            </a:r>
            <a:r>
              <a:rPr lang="en-US" sz="1400" dirty="0" err="1" smtClean="0"/>
              <a:t>đâu</a:t>
            </a:r>
            <a:r>
              <a:rPr lang="en-US" sz="1400" dirty="0" smtClean="0"/>
              <a:t> </a:t>
            </a:r>
            <a:r>
              <a:rPr lang="en-US" sz="1400" dirty="0" err="1" smtClean="0"/>
              <a:t>còn</a:t>
            </a:r>
            <a:r>
              <a:rPr lang="en-US" sz="1400" dirty="0" smtClean="0"/>
              <a:t> </a:t>
            </a:r>
            <a:r>
              <a:rPr lang="en-US" sz="1400" dirty="0" err="1" smtClean="0"/>
              <a:t>cái</a:t>
            </a:r>
            <a:r>
              <a:rPr lang="en-US" sz="1400" dirty="0" smtClean="0"/>
              <a:t> </a:t>
            </a:r>
            <a:r>
              <a:rPr lang="en-US" sz="1400" dirty="0" err="1" smtClean="0"/>
              <a:t>cho</a:t>
            </a:r>
            <a:r>
              <a:rPr lang="en-US" sz="1400" dirty="0" smtClean="0"/>
              <a:t> </a:t>
            </a:r>
            <a:r>
              <a:rPr lang="en-US" sz="1400" dirty="0" err="1" smtClean="0"/>
              <a:t>ổng</a:t>
            </a:r>
            <a:r>
              <a:rPr lang="en-US" sz="1400" dirty="0" smtClean="0"/>
              <a:t> </a:t>
            </a:r>
            <a:r>
              <a:rPr lang="en-US" sz="1400" dirty="0" err="1" smtClean="0"/>
              <a:t>hỏi</a:t>
            </a:r>
            <a:r>
              <a:rPr lang="en-US" sz="1400" dirty="0" smtClean="0"/>
              <a:t> :p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58770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11</a:t>
            </a:fld>
            <a:endParaRPr lang="de-DE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1521570"/>
              </p:ext>
            </p:extLst>
          </p:nvPr>
        </p:nvGraphicFramePr>
        <p:xfrm>
          <a:off x="0" y="1143000"/>
          <a:ext cx="11868151" cy="471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Worksheet" r:id="rId4" imgW="12039633" imgH="5676973" progId="Excel.Sheet.12">
                  <p:embed/>
                </p:oleObj>
              </mc:Choice>
              <mc:Fallback>
                <p:oleObj name="Worksheet" r:id="rId4" imgW="12039633" imgH="5676973" progId="Excel.Shee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143000"/>
                        <a:ext cx="11868151" cy="471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0540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7" name="Text Placeholder 5"/>
          <p:cNvSpPr>
            <a:spLocks noGrp="1"/>
          </p:cNvSpPr>
          <p:nvPr>
            <p:ph idx="1"/>
          </p:nvPr>
        </p:nvSpPr>
        <p:spPr>
          <a:xfrm>
            <a:off x="481426" y="1395442"/>
            <a:ext cx="11231197" cy="2262158"/>
          </a:xfrm>
        </p:spPr>
        <p:txBody>
          <a:bodyPr/>
          <a:lstStyle/>
          <a:p>
            <a:r>
              <a:rPr lang="en-US" sz="2400" b="1" i="1" dirty="0"/>
              <a:t>Commitment result after 2 year:</a:t>
            </a:r>
          </a:p>
          <a:p>
            <a:pPr marL="56991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Achieve level 2 for Software </a:t>
            </a:r>
            <a:r>
              <a:rPr lang="en-US" sz="2400" dirty="0" smtClean="0"/>
              <a:t>Design </a:t>
            </a:r>
            <a:r>
              <a:rPr lang="en-US" sz="2400" dirty="0"/>
              <a:t>E</a:t>
            </a:r>
            <a:r>
              <a:rPr lang="en-US" sz="2400" dirty="0" smtClean="0"/>
              <a:t>ngineer </a:t>
            </a:r>
            <a:r>
              <a:rPr lang="en-US" sz="2400" dirty="0"/>
              <a:t>and </a:t>
            </a:r>
            <a:r>
              <a:rPr lang="en-US" sz="2400" dirty="0" smtClean="0"/>
              <a:t>Coding Engineer role.</a:t>
            </a:r>
            <a:endParaRPr lang="en-US" sz="2400" dirty="0"/>
          </a:p>
          <a:p>
            <a:pPr marL="56991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</a:t>
            </a:r>
            <a:r>
              <a:rPr lang="en-US" sz="2400" dirty="0" smtClean="0"/>
              <a:t>an self-schedule for given tasks.</a:t>
            </a:r>
          </a:p>
          <a:p>
            <a:pPr marL="56991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Ensure </a:t>
            </a:r>
            <a:r>
              <a:rPr lang="en-US" sz="2400" dirty="0"/>
              <a:t>the quality of output and time management</a:t>
            </a:r>
            <a:r>
              <a:rPr lang="en-US" sz="2400" dirty="0" smtClean="0"/>
              <a:t>.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5943600" y="4419600"/>
            <a:ext cx="4876800" cy="1638456"/>
          </a:xfrm>
          <a:prstGeom prst="wedgeRoundRectCallout">
            <a:avLst>
              <a:gd name="adj1" fmla="val -53186"/>
              <a:gd name="adj2" fmla="val -8139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Như</a:t>
            </a:r>
            <a:r>
              <a:rPr lang="en-US" sz="1400" dirty="0" smtClean="0"/>
              <a:t> </a:t>
            </a:r>
            <a:r>
              <a:rPr lang="en-US" sz="1400" dirty="0" err="1" smtClean="0"/>
              <a:t>vậy</a:t>
            </a:r>
            <a:r>
              <a:rPr lang="en-US" sz="1400" dirty="0" smtClean="0"/>
              <a:t> </a:t>
            </a:r>
            <a:r>
              <a:rPr lang="en-US" sz="1400" dirty="0" err="1" smtClean="0"/>
              <a:t>cũng</a:t>
            </a:r>
            <a:r>
              <a:rPr lang="en-US" sz="1400" dirty="0" smtClean="0"/>
              <a:t> </a:t>
            </a:r>
            <a:r>
              <a:rPr lang="en-US" sz="1400" dirty="0" err="1" smtClean="0"/>
              <a:t>đc</a:t>
            </a:r>
            <a:r>
              <a:rPr lang="en-US" sz="1400" dirty="0" smtClean="0"/>
              <a:t> </a:t>
            </a:r>
            <a:r>
              <a:rPr lang="en-US" sz="1400" dirty="0" err="1" smtClean="0"/>
              <a:t>mà</a:t>
            </a:r>
            <a:r>
              <a:rPr lang="en-US" sz="1400" dirty="0" smtClean="0"/>
              <a:t> </a:t>
            </a:r>
            <a:r>
              <a:rPr lang="en-US" sz="1400" dirty="0" err="1" smtClean="0"/>
              <a:t>còn</a:t>
            </a:r>
            <a:r>
              <a:rPr lang="en-US" sz="1400" dirty="0" smtClean="0"/>
              <a:t> </a:t>
            </a:r>
            <a:r>
              <a:rPr lang="en-US" sz="1400" dirty="0" err="1" smtClean="0"/>
              <a:t>chung</a:t>
            </a:r>
            <a:r>
              <a:rPr lang="en-US" sz="1400" dirty="0" smtClean="0"/>
              <a:t> </a:t>
            </a:r>
            <a:r>
              <a:rPr lang="en-US" sz="1400" dirty="0" err="1" smtClean="0"/>
              <a:t>chung</a:t>
            </a:r>
            <a:r>
              <a:rPr lang="en-US" sz="1400" dirty="0" smtClean="0"/>
              <a:t>. </a:t>
            </a:r>
            <a:r>
              <a:rPr lang="en-US" sz="1400" dirty="0" err="1" smtClean="0"/>
              <a:t>Một</a:t>
            </a:r>
            <a:r>
              <a:rPr lang="en-US" sz="1400" dirty="0" smtClean="0"/>
              <a:t> </a:t>
            </a:r>
            <a:r>
              <a:rPr lang="en-US" sz="1400" dirty="0" err="1" smtClean="0"/>
              <a:t>số</a:t>
            </a:r>
            <a:r>
              <a:rPr lang="en-US" sz="1400" dirty="0" smtClean="0"/>
              <a:t> </a:t>
            </a:r>
            <a:r>
              <a:rPr lang="en-US" sz="1400" dirty="0" err="1" smtClean="0"/>
              <a:t>ví</a:t>
            </a:r>
            <a:r>
              <a:rPr lang="en-US" sz="1400" dirty="0" smtClean="0"/>
              <a:t> </a:t>
            </a:r>
            <a:r>
              <a:rPr lang="en-US" sz="1400" dirty="0" err="1" smtClean="0"/>
              <a:t>dụ</a:t>
            </a:r>
            <a:r>
              <a:rPr lang="en-US" sz="1400" dirty="0" smtClean="0"/>
              <a:t> </a:t>
            </a:r>
            <a:r>
              <a:rPr lang="en-US" sz="1400" dirty="0" err="1" smtClean="0"/>
              <a:t>của</a:t>
            </a:r>
            <a:r>
              <a:rPr lang="en-US" sz="1400" dirty="0" smtClean="0"/>
              <a:t> a:</a:t>
            </a:r>
          </a:p>
          <a:p>
            <a:pPr marL="285750" indent="-285750" algn="ctr">
              <a:buFontTx/>
              <a:buChar char="-"/>
            </a:pPr>
            <a:r>
              <a:rPr lang="en-US" sz="1400" dirty="0" smtClean="0"/>
              <a:t>Support to train new members join to project.</a:t>
            </a:r>
          </a:p>
          <a:p>
            <a:pPr marL="285750" indent="-285750" algn="ctr">
              <a:buFontTx/>
              <a:buChar char="-"/>
            </a:pPr>
            <a:r>
              <a:rPr lang="en-US" sz="1400" dirty="0" smtClean="0"/>
              <a:t>Can discuss directly with customer not only about technical but also management.</a:t>
            </a:r>
          </a:p>
          <a:p>
            <a:pPr marL="285750" indent="-285750" algn="ctr">
              <a:buFontTx/>
              <a:buChar char="-"/>
            </a:pPr>
            <a:r>
              <a:rPr lang="en-US" sz="1400" dirty="0" smtClean="0"/>
              <a:t>Understand and follow development process without support of Seniors/Leaders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19641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/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" b="32"/>
          <a:stretch>
            <a:fillRect/>
          </a:stretch>
        </p:blipFill>
        <p:spPr/>
      </p:pic>
      <p:sp>
        <p:nvSpPr>
          <p:cNvPr id="3" name="Textplatzhalter 2"/>
          <p:cNvSpPr>
            <a:spLocks noGrp="1"/>
          </p:cNvSpPr>
          <p:nvPr>
            <p:ph type="body" sz="quarter" idx="11"/>
          </p:nvPr>
        </p:nvSpPr>
        <p:spPr>
          <a:xfrm>
            <a:off x="468000" y="1080001"/>
            <a:ext cx="7920000" cy="917513"/>
          </a:xfrm>
        </p:spPr>
        <p:txBody>
          <a:bodyPr/>
          <a:lstStyle/>
          <a:p>
            <a:r>
              <a:rPr lang="en-US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337285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51021_Renesas_Templates_16_9_EN_conf_RVC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Renesas_fonts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2" id="{23027CC0-E0AE-4831-839B-2A054B8942D5}" vid="{7A092532-8C16-4104-92EA-537B4E973A3C}"/>
    </a:ext>
  </a:extLst>
</a:theme>
</file>

<file path=ppt/theme/theme2.xml><?xml version="1.0" encoding="utf-8"?>
<a:theme xmlns:a="http://schemas.openxmlformats.org/drawingml/2006/main" name="Theme1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7074B6E-E2FB-4F1B-BFCA-5C5F6253BF39}" vid="{14B25424-866B-4E9B-820E-135B3E881C03}"/>
    </a:ext>
  </a:extLst>
</a:theme>
</file>

<file path=ppt/theme/theme3.xml><?xml version="1.0" encoding="utf-8"?>
<a:theme xmlns:a="http://schemas.openxmlformats.org/drawingml/2006/main" name="1_151229_Renesas_Templates_16_9_EN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54147FB1-DAE6-4AE8-976A-1D9502EBCD93}" vid="{D1F8C949-6990-4F7E-A752-F27DA72DB7FA}"/>
    </a:ext>
  </a:extLst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151021_Renesas_Templates_16_9_EN_conf_RVC</Template>
  <TotalTime>61978</TotalTime>
  <Words>1485</Words>
  <Application>Microsoft Office PowerPoint</Application>
  <PresentationFormat>Widescreen</PresentationFormat>
  <Paragraphs>235</Paragraphs>
  <Slides>13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メイリオ</vt:lpstr>
      <vt:lpstr>Arial</vt:lpstr>
      <vt:lpstr>Arial Narrow</vt:lpstr>
      <vt:lpstr>Calibri</vt:lpstr>
      <vt:lpstr>Courier New</vt:lpstr>
      <vt:lpstr>Symbol</vt:lpstr>
      <vt:lpstr>Wingdings</vt:lpstr>
      <vt:lpstr>151021_Renesas_Templates_16_9_EN_conf_RVC</vt:lpstr>
      <vt:lpstr>Theme1</vt:lpstr>
      <vt:lpstr>1_151229_Renesas_Templates_16_9_EN</vt:lpstr>
      <vt:lpstr>Worksheet</vt:lpstr>
      <vt:lpstr>PowerPoint Presentation</vt:lpstr>
      <vt:lpstr>Agenda</vt:lpstr>
      <vt:lpstr>Training Target(1/2)</vt:lpstr>
      <vt:lpstr>Training Target(2/2)</vt:lpstr>
      <vt:lpstr>Current Status(1/2)</vt:lpstr>
      <vt:lpstr>Current Status(2/2)</vt:lpstr>
      <vt:lpstr>Gaps Analysis and Solution(1/4)</vt:lpstr>
      <vt:lpstr>Gaps Analysis and Solution(2/4)</vt:lpstr>
      <vt:lpstr>Gaps Analysis and Solution(3/4)</vt:lpstr>
      <vt:lpstr>Gaps Analysis and Solution(4/4)</vt:lpstr>
      <vt:lpstr>Training Plan</vt:lpstr>
      <vt:lpstr>Commitment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Hieu Trung. Tran</dc:creator>
  <cp:lastModifiedBy>Nhi Yen. Cao</cp:lastModifiedBy>
  <cp:revision>432</cp:revision>
  <dcterms:created xsi:type="dcterms:W3CDTF">2016-06-23T01:54:16Z</dcterms:created>
  <dcterms:modified xsi:type="dcterms:W3CDTF">2017-06-19T06:37:41Z</dcterms:modified>
</cp:coreProperties>
</file>