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  <p:sldMasterId id="2147483771" r:id="rId2"/>
    <p:sldMasterId id="2147483791" r:id="rId3"/>
  </p:sldMasterIdLst>
  <p:notesMasterIdLst>
    <p:notesMasterId r:id="rId20"/>
  </p:notesMasterIdLst>
  <p:sldIdLst>
    <p:sldId id="406" r:id="rId4"/>
    <p:sldId id="385" r:id="rId5"/>
    <p:sldId id="390" r:id="rId6"/>
    <p:sldId id="396" r:id="rId7"/>
    <p:sldId id="391" r:id="rId8"/>
    <p:sldId id="392" r:id="rId9"/>
    <p:sldId id="399" r:id="rId10"/>
    <p:sldId id="412" r:id="rId11"/>
    <p:sldId id="402" r:id="rId12"/>
    <p:sldId id="409" r:id="rId13"/>
    <p:sldId id="408" r:id="rId14"/>
    <p:sldId id="410" r:id="rId15"/>
    <p:sldId id="411" r:id="rId16"/>
    <p:sldId id="407" r:id="rId17"/>
    <p:sldId id="394" r:id="rId18"/>
    <p:sldId id="363" r:id="rId19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3" orient="horz" pos="2472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059" autoAdjust="0"/>
    <p:restoredTop sz="96984" autoAdjust="0"/>
  </p:normalViewPr>
  <p:slideViewPr>
    <p:cSldViewPr showGuides="1">
      <p:cViewPr varScale="1">
        <p:scale>
          <a:sx n="74" d="100"/>
          <a:sy n="74" d="100"/>
        </p:scale>
        <p:origin x="84" y="240"/>
      </p:cViewPr>
      <p:guideLst>
        <p:guide orient="horz"/>
        <p:guide pos="3976"/>
        <p:guide orient="horz" pos="2472"/>
        <p:guide orient="horz" pos="1389"/>
      </p:guideLst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7/27/2017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161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8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597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66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08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42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086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0390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307777"/>
          </a:xfrm>
          <a:ln>
            <a:noFill/>
          </a:ln>
        </p:spPr>
        <p:txBody>
          <a:bodyPr wrap="square">
            <a:spAutoFit/>
          </a:bodyPr>
          <a:lstStyle>
            <a:lvl1pPr marL="228600" indent="-228600">
              <a:spcAft>
                <a:spcPts val="1800"/>
              </a:spcAft>
              <a:buClrTx/>
              <a:buSzPct val="80000"/>
              <a:buFont typeface="Wingdings" panose="05000000000000000000" pitchFamily="2" charset="2"/>
              <a:buChar char="q"/>
              <a:tabLst>
                <a:tab pos="6637338" algn="r"/>
              </a:tabLst>
              <a:defRPr sz="20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9067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11231197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7873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94736" y="1268761"/>
            <a:ext cx="5412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81427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979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0"/>
            <a:ext cx="5400000" cy="477924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4560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593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336360" y="1268761"/>
            <a:ext cx="2363640" cy="80021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79376" y="1268760"/>
            <a:ext cx="8700624" cy="477924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4656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´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40016" y="1268760"/>
            <a:ext cx="5459984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9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8514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321000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25075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ph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0"/>
            <a:ext cx="8700624" cy="449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80376" y="1268760"/>
            <a:ext cx="2232248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411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2" y="5940001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39751"/>
            <a:ext cx="11252200" cy="1661993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60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Graph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768408" y="1268760"/>
            <a:ext cx="193159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3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51357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4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1357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6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963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08368" y="1268760"/>
            <a:ext cx="229163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79378" y="1268760"/>
            <a:ext cx="8700621" cy="307777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4465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41010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751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484762"/>
            <a:ext cx="5280000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5295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5216270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822896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-22588"/>
            <a:ext cx="8520000" cy="886397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605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36717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165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078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255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580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016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3088033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9686381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331527288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999830162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69579023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7956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74306011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sp>
        <p:nvSpPr>
          <p:cNvPr id="7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661710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0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670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588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6661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7043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350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15159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968375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936657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4732587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7684904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673159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575983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831121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367644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40863475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0256276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906436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7206717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6769184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999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1.gif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79376" y="445076"/>
            <a:ext cx="11242224" cy="4431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9376" y="1309075"/>
            <a:ext cx="11240598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2" y="6542446"/>
            <a:ext cx="279243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i="0" u="none" strike="noStrike" kern="1200" baseline="0" dirty="0" smtClean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2016 Renesas Design Vietnam Co., Ltd.. All rights reserved. </a:t>
            </a:r>
            <a:endParaRPr lang="en-US" sz="9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/>
          <p:cNvSpPr/>
          <p:nvPr/>
        </p:nvSpPr>
        <p:spPr>
          <a:xfrm>
            <a:off x="3412772" y="650389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226" y="6452761"/>
            <a:ext cx="1773748" cy="302481"/>
          </a:xfrm>
          <a:prstGeom prst="rect">
            <a:avLst/>
          </a:prstGeom>
        </p:spPr>
      </p:pic>
      <p:sp>
        <p:nvSpPr>
          <p:cNvPr id="11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72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9" r:id="rId9"/>
    <p:sldLayoutId id="2147483761" r:id="rId10"/>
    <p:sldLayoutId id="2147483762" r:id="rId11"/>
    <p:sldLayoutId id="2147483770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7013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anose="05000000000000000000" pitchFamily="2" charset="2"/>
        <a:buChar char="q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618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1"/>
            <a:ext cx="11277600" cy="6172201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>
          <a:xfrm>
            <a:off x="1080000" y="-1"/>
            <a:ext cx="5778000" cy="2592000"/>
          </a:xfrm>
        </p:spPr>
        <p:txBody>
          <a:bodyPr/>
          <a:lstStyle/>
          <a:p>
            <a:r>
              <a:rPr lang="en-US" altLang="ja-JP" dirty="0"/>
              <a:t>25G MENTOR-MENTEE</a:t>
            </a:r>
          </a:p>
          <a:p>
            <a:r>
              <a:rPr lang="en-US" altLang="ja-JP" dirty="0"/>
              <a:t>TRAINING PLAN</a:t>
            </a:r>
          </a:p>
          <a:p>
            <a:pPr lvl="1"/>
            <a:r>
              <a:rPr lang="en-US" altLang="ja-JP" dirty="0" smtClean="0"/>
              <a:t>June </a:t>
            </a:r>
            <a:r>
              <a:rPr lang="en-US" altLang="ja-JP" dirty="0"/>
              <a:t>2017 – </a:t>
            </a:r>
            <a:r>
              <a:rPr lang="en-US" altLang="ja-JP" dirty="0" smtClean="0"/>
              <a:t>June 2019</a:t>
            </a:r>
            <a:endParaRPr lang="en-US" altLang="ja-JP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778000" cy="1840843"/>
          </a:xfrm>
        </p:spPr>
        <p:txBody>
          <a:bodyPr/>
          <a:lstStyle/>
          <a:p>
            <a:r>
              <a:rPr lang="en-US" dirty="0"/>
              <a:t>Date: </a:t>
            </a:r>
            <a:r>
              <a:rPr lang="en-US" dirty="0" smtClean="0"/>
              <a:t>June </a:t>
            </a:r>
            <a:r>
              <a:rPr lang="en-US" dirty="0"/>
              <a:t>28, 2017</a:t>
            </a:r>
          </a:p>
          <a:p>
            <a:r>
              <a:rPr lang="en-US" dirty="0"/>
              <a:t>Mentee: </a:t>
            </a:r>
            <a:r>
              <a:rPr lang="en-US" dirty="0" err="1" smtClean="0"/>
              <a:t>Nhi</a:t>
            </a:r>
            <a:r>
              <a:rPr lang="en-US" dirty="0" smtClean="0"/>
              <a:t> Cao (1991)</a:t>
            </a:r>
            <a:endParaRPr lang="en-US" dirty="0"/>
          </a:p>
          <a:p>
            <a:r>
              <a:rPr lang="en-US" dirty="0"/>
              <a:t>Mentor:  </a:t>
            </a:r>
            <a:r>
              <a:rPr lang="en-US" dirty="0" smtClean="0"/>
              <a:t>Thuy Tran (0505)</a:t>
            </a:r>
            <a:endParaRPr lang="en-US" dirty="0"/>
          </a:p>
          <a:p>
            <a:r>
              <a:rPr lang="en-US" dirty="0"/>
              <a:t>Software Tool Solution </a:t>
            </a:r>
            <a:r>
              <a:rPr lang="en-US" dirty="0" smtClean="0"/>
              <a:t>1 </a:t>
            </a:r>
            <a:r>
              <a:rPr lang="en-US" dirty="0"/>
              <a:t>Group</a:t>
            </a:r>
          </a:p>
          <a:p>
            <a:r>
              <a:rPr lang="en-US" dirty="0"/>
              <a:t>Software Engineer Division</a:t>
            </a:r>
          </a:p>
          <a:p>
            <a:r>
              <a:rPr lang="en-US" dirty="0" err="1"/>
              <a:t>Renesas</a:t>
            </a:r>
            <a:r>
              <a:rPr lang="en-US" dirty="0"/>
              <a:t> Design Vietnam Co., Ltd.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4898026"/>
            <a:ext cx="1414395" cy="12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7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420611"/>
            <a:ext cx="8520000" cy="443198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>
                <a:latin typeface="+mn-lt"/>
              </a:rPr>
              <a:t>Page </a:t>
            </a:r>
            <a:fld id="{3FD030EF-7044-4946-962A-5D7D09BD1B34}" type="slidenum">
              <a:rPr lang="de-DE" smtClean="0">
                <a:latin typeface="+mn-lt"/>
              </a:rPr>
              <a:pPr/>
              <a:t>2</a:t>
            </a:fld>
            <a:endParaRPr lang="de-DE" dirty="0">
              <a:latin typeface="+mn-lt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2462213"/>
          </a:xfrm>
        </p:spPr>
        <p:txBody>
          <a:bodyPr/>
          <a:lstStyle/>
          <a:p>
            <a:r>
              <a:rPr lang="de-DE" dirty="0"/>
              <a:t>Training T</a:t>
            </a:r>
            <a:r>
              <a:rPr lang="de-DE" dirty="0" smtClean="0"/>
              <a:t>arget	Page 03</a:t>
            </a:r>
          </a:p>
          <a:p>
            <a:r>
              <a:rPr lang="de-DE" dirty="0"/>
              <a:t>Current </a:t>
            </a:r>
            <a:r>
              <a:rPr lang="de-DE" dirty="0" smtClean="0"/>
              <a:t>Status	Page 05</a:t>
            </a:r>
          </a:p>
          <a:p>
            <a:r>
              <a:rPr lang="de-DE" dirty="0"/>
              <a:t>Gaps Analysis and Solution</a:t>
            </a:r>
            <a:r>
              <a:rPr lang="de-DE" dirty="0" smtClean="0"/>
              <a:t>	Page 06</a:t>
            </a:r>
          </a:p>
          <a:p>
            <a:r>
              <a:rPr lang="de-DE" dirty="0"/>
              <a:t>Training </a:t>
            </a:r>
            <a:r>
              <a:rPr lang="de-DE" dirty="0" smtClean="0"/>
              <a:t>Plan                                                                                         Page 08</a:t>
            </a:r>
          </a:p>
          <a:p>
            <a:r>
              <a:rPr lang="de-DE" dirty="0"/>
              <a:t>Commitment </a:t>
            </a:r>
            <a:r>
              <a:rPr lang="de-DE" dirty="0" smtClean="0"/>
              <a:t>	 Page 09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250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Target(1/2)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816476" y="1239522"/>
            <a:ext cx="11231197" cy="693523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Target: Achieve role </a:t>
            </a:r>
            <a:r>
              <a:rPr lang="en-US" altLang="en-US" b="1" dirty="0" smtClean="0">
                <a:solidFill>
                  <a:srgbClr val="FF0000"/>
                </a:solidFill>
              </a:rPr>
              <a:t>Level </a:t>
            </a:r>
            <a:r>
              <a:rPr lang="en-US" altLang="en-US" b="1" dirty="0">
                <a:solidFill>
                  <a:srgbClr val="FF0000"/>
                </a:solidFill>
              </a:rPr>
              <a:t>2</a:t>
            </a:r>
            <a:r>
              <a:rPr lang="en-US" altLang="en-US" b="1" dirty="0">
                <a:solidFill>
                  <a:srgbClr val="000000"/>
                </a:solidFill>
              </a:rPr>
              <a:t> of Engineer for test validation (software) by </a:t>
            </a:r>
            <a:r>
              <a:rPr lang="en-US" altLang="en-US" b="1" dirty="0" smtClean="0">
                <a:solidFill>
                  <a:srgbClr val="000000"/>
                </a:solidFill>
              </a:rPr>
              <a:t>March, 2019</a:t>
            </a:r>
            <a:endParaRPr lang="en-US" altLang="en-US" b="1" dirty="0">
              <a:solidFill>
                <a:srgbClr val="000000"/>
              </a:solidFill>
            </a:endParaRPr>
          </a:p>
          <a:p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  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         </a:t>
            </a:r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Ability to do e2 studio verification without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support, </a:t>
            </a:r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if it is within certain degree of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difficulty</a:t>
            </a:r>
            <a:endParaRPr lang="en-US" altLang="en-US" b="1" dirty="0">
              <a:solidFill>
                <a:srgbClr val="000000"/>
              </a:solidFill>
              <a:ea typeface="Microsoft YaHei" panose="020B0503020204020204" pitchFamily="3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529587"/>
              </p:ext>
            </p:extLst>
          </p:nvPr>
        </p:nvGraphicFramePr>
        <p:xfrm>
          <a:off x="228637" y="2362200"/>
          <a:ext cx="11734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05000"/>
                <a:gridCol w="7010400"/>
                <a:gridCol w="1524000"/>
              </a:tblGrid>
              <a:tr h="382564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Role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 Level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98503">
                <a:tc rowSpan="5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Engineer for test validation (software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 item extraction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Extract test items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from various specifications and design specifications.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Round up and integrate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the extracted test items into test specifications.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Level 2</a:t>
                      </a:r>
                      <a:endParaRPr lang="en-US" sz="1500" dirty="0"/>
                    </a:p>
                  </a:txBody>
                  <a:tcPr anchor="ctr"/>
                </a:tc>
              </a:tr>
              <a:tr h="59850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Testing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 tests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according to the test specifications.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Round up the results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the tests and make a report.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646153">
                <a:tc vMerge="1">
                  <a:txBody>
                    <a:bodyPr/>
                    <a:lstStyle/>
                    <a:p>
                      <a:pPr algn="l"/>
                      <a:endParaRPr lang="en-US" sz="15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Failure analysis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Locate the cause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any trouble and make analysis of its influences and other side effects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Find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similar bugs</a:t>
                      </a:r>
                    </a:p>
                  </a:txBody>
                  <a:tcPr marL="90000" marR="90000" marT="57384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59317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 environment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construction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Have knowledge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the development environment (compiler, debugger) and target environment ( CS+, e2 studio and their plug-ins)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tests and evaluations.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686303">
                <a:tc vMerge="1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Validity verification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Create system verification specifications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from the use cases as viewed from the user application side and from the view point of uses such as high load environment,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 tests.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Target(2/2)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4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83904"/>
              </p:ext>
            </p:extLst>
          </p:nvPr>
        </p:nvGraphicFramePr>
        <p:xfrm>
          <a:off x="228600" y="1600200"/>
          <a:ext cx="117348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50"/>
                <a:gridCol w="8096250"/>
              </a:tblGrid>
              <a:tr h="547433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Common Skill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607340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follow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feedback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 looking at result of work.</a:t>
                      </a:r>
                    </a:p>
                  </a:txBody>
                  <a:tcPr anchor="ctr"/>
                </a:tc>
              </a:tr>
              <a:tr h="582709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express idea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others.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report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status/issues/solutions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leaders. </a:t>
                      </a:r>
                    </a:p>
                  </a:txBody>
                  <a:tcPr anchor="ctr"/>
                </a:tc>
              </a:tr>
              <a:tr h="825505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make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schedule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follow it.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manage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common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risk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assigned tasks: private issues (health,…),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technical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(lack of experience in assigned fields),… </a:t>
                      </a:r>
                    </a:p>
                  </a:txBody>
                  <a:tcPr anchor="ctr"/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TOEIC 700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00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5</a:t>
            </a:fld>
            <a:endParaRPr lang="de-D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93102"/>
              </p:ext>
            </p:extLst>
          </p:nvPr>
        </p:nvGraphicFramePr>
        <p:xfrm>
          <a:off x="479376" y="914400"/>
          <a:ext cx="11255423" cy="409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481"/>
                <a:gridCol w="2011943"/>
                <a:gridCol w="6539255"/>
                <a:gridCol w="1461744"/>
              </a:tblGrid>
              <a:tr h="624952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Role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status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82284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Engineer for test validation (software)</a:t>
                      </a:r>
                    </a:p>
                    <a:p>
                      <a:pPr algn="ctr"/>
                      <a:endParaRPr lang="en-US" sz="15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item extraction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understand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simple specifications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create Test cases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but not cover all contexts.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Level 1</a:t>
                      </a:r>
                      <a:endParaRPr lang="en-US" sz="1500" dirty="0"/>
                    </a:p>
                  </a:txBody>
                  <a:tcPr anchor="ctr"/>
                </a:tc>
              </a:tr>
              <a:tr h="7620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conduct test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simple modules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 without following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 procedure.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09600">
                <a:tc vMerge="1">
                  <a:txBody>
                    <a:bodyPr/>
                    <a:lstStyle/>
                    <a:p>
                      <a:pPr algn="ctr"/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Failure analysis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only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detect simple bugs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, cannot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find out root causes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401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environment construction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 up simple environment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Need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support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from Mentor to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set-up complex environment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36830">
                <a:tc vMerge="1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 not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87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Solution(1/2)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6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37454"/>
              </p:ext>
            </p:extLst>
          </p:nvPr>
        </p:nvGraphicFramePr>
        <p:xfrm>
          <a:off x="457201" y="1066800"/>
          <a:ext cx="11277601" cy="58823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755"/>
                <a:gridCol w="2173099"/>
                <a:gridCol w="2098165"/>
                <a:gridCol w="3072312"/>
                <a:gridCol w="2510270"/>
              </a:tblGrid>
              <a:tr h="36838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Skill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Gap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Root</a:t>
                      </a:r>
                      <a:r>
                        <a:rPr lang="en-US" sz="1500" baseline="0" dirty="0" smtClean="0"/>
                        <a:t> Causes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Mentee’s action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Mentor’s action</a:t>
                      </a:r>
                    </a:p>
                  </a:txBody>
                  <a:tcPr anchor="ctr"/>
                </a:tc>
              </a:tr>
              <a:tr h="191202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item extraction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create test spec. which includes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abnormal and boundary cases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Don’t have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much </a:t>
                      </a: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experiences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about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abnormal and boundary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cases.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documents,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analyze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test spec for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comprehension,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practice more and record reviews from mentor to get more experiences.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Ask Mentor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confirming knowledge and unclear points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reference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documents, sample PCL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investigate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60579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Cannot do the complicated test case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Testing without following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 procedure.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Comprehension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about PCL is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not good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- 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Testing by 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old 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habit 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such as skipping some steps,…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existing PCL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get main test view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points,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reading specifications to understand functions and expected outputs.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Investigate standard test procedure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which was defined in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team.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standard procedure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using environment of testing 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conduct test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Failure analysis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find the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root causes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of bugs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Lack of knowledge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about Failure analysis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countermeasures report to know how to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analyze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detect bugs.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side effects to check for similar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bugs.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Confirm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output and unclear points with Mentor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sample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report.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analyze failure efficiently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report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27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7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442144"/>
              </p:ext>
            </p:extLst>
          </p:nvPr>
        </p:nvGraphicFramePr>
        <p:xfrm>
          <a:off x="304801" y="990600"/>
          <a:ext cx="11658600" cy="6233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  <a:gridCol w="2331720"/>
                <a:gridCol w="2331720"/>
                <a:gridCol w="2331720"/>
              </a:tblGrid>
              <a:tr h="3229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Skill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Gap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Root</a:t>
                      </a:r>
                      <a:r>
                        <a:rPr lang="en-US" sz="1600" baseline="0" smtClean="0"/>
                        <a:t> Causes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Mentee’s action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Mentor’s action</a:t>
                      </a:r>
                    </a:p>
                  </a:txBody>
                  <a:tcPr anchor="ctr"/>
                </a:tc>
              </a:tr>
              <a:tr h="14070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Environment construction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 up environment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which combine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many plug-ins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inside 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Don’t understand </a:t>
                      </a:r>
                      <a:r>
                        <a:rPr lang="en-US" sz="1600" baseline="0" dirty="0" smtClean="0"/>
                        <a:t>all component plug-ins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Take notes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important steps to create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environment.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some main components of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the plugins that need to set up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Set-up environment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based on Mentor's hints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reference documents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206235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 not do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system validity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as user view point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Don’t have basic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 knowledge </a:t>
                      </a:r>
                      <a:r>
                        <a:rPr lang="en-US" sz="1600" baseline="0" dirty="0" smtClean="0"/>
                        <a:t>about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system validity </a:t>
                      </a:r>
                      <a:r>
                        <a:rPr lang="en-US" sz="1600" baseline="0" dirty="0" smtClean="0"/>
                        <a:t> 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about the system using User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manual.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Refer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test spec. to create sample test spec.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Confirm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output with Mentor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reference documents, sample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38919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English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Got problem in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using some words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in technical field 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Lack of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technical vocabularies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Learning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more technical vocabularies from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documents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its using context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Explain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context and meaning of any technical vocabularies that mentee confuses</a:t>
                      </a:r>
                    </a:p>
                  </a:txBody>
                  <a:tcPr marT="54540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9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8</a:t>
            </a:fld>
            <a:endParaRPr lang="de-DE" dirty="0"/>
          </a:p>
        </p:txBody>
      </p:sp>
      <p:grpSp>
        <p:nvGrpSpPr>
          <p:cNvPr id="39" name="Group 38"/>
          <p:cNvGrpSpPr/>
          <p:nvPr/>
        </p:nvGrpSpPr>
        <p:grpSpPr>
          <a:xfrm>
            <a:off x="1032995" y="1164794"/>
            <a:ext cx="10058398" cy="4960652"/>
            <a:chOff x="3642311" y="1084083"/>
            <a:chExt cx="4593794" cy="4960652"/>
          </a:xfrm>
        </p:grpSpPr>
        <p:sp>
          <p:nvSpPr>
            <p:cNvPr id="19" name="Flowchart: Alternate Process 18"/>
            <p:cNvSpPr/>
            <p:nvPr/>
          </p:nvSpPr>
          <p:spPr>
            <a:xfrm>
              <a:off x="3642311" y="1084083"/>
              <a:ext cx="4574433" cy="791722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 smtClean="0"/>
                <a:t>                              </a:t>
              </a:r>
              <a:r>
                <a:rPr lang="en-US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ignificant</a:t>
              </a:r>
              <a:r>
                <a:rPr lang="en-US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skill: </a:t>
              </a:r>
              <a:r>
                <a: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get level 2 of this skill</a:t>
              </a:r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Flowchart: Alternate Process 21"/>
            <p:cNvSpPr/>
            <p:nvPr/>
          </p:nvSpPr>
          <p:spPr>
            <a:xfrm>
              <a:off x="3642311" y="2128303"/>
              <a:ext cx="4574433" cy="791722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/>
                <a:t>                                 </a:t>
              </a:r>
              <a:r>
                <a:rPr lang="en-US" dirty="0" err="1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otivation:Testing</a:t>
              </a:r>
              <a:r>
                <a: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complicated test cases and follow </a:t>
              </a:r>
              <a:r>
                <a:rPr lang="en-US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procedure    </a:t>
              </a:r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Flowchart: Alternate Process 24"/>
            <p:cNvSpPr/>
            <p:nvPr/>
          </p:nvSpPr>
          <p:spPr>
            <a:xfrm>
              <a:off x="3642311" y="3172523"/>
              <a:ext cx="4574432" cy="791722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                 </a:t>
              </a:r>
              <a:r>
                <a:rPr lang="en-US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chievable</a:t>
              </a:r>
              <a:r>
                <a:rPr lang="en-US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results: have a good testing skill that can test any cases</a:t>
              </a:r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8" name="Flowchart: Alternate Process 27"/>
            <p:cNvSpPr/>
            <p:nvPr/>
          </p:nvSpPr>
          <p:spPr>
            <a:xfrm>
              <a:off x="3642311" y="5253013"/>
              <a:ext cx="4593794" cy="791722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                                </a:t>
              </a:r>
              <a:r>
                <a:rPr lang="en-US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ime</a:t>
              </a:r>
              <a:r>
                <a:rPr lang="en-US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bound: by March, 2018</a:t>
              </a:r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1" name="Flowchart: Alternate Process 30"/>
            <p:cNvSpPr/>
            <p:nvPr/>
          </p:nvSpPr>
          <p:spPr>
            <a:xfrm>
              <a:off x="3666568" y="4252033"/>
              <a:ext cx="4550175" cy="791722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                      </a:t>
              </a:r>
              <a:r>
                <a:rPr lang="en-US" dirty="0" err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elevant</a:t>
              </a:r>
              <a:r>
                <a:rPr lang="en-US" dirty="0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 testing procedure: testing step by step, follow team procedure </a:t>
              </a:r>
              <a:endParaRPr lang="en-US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4" name="Pentagon 33"/>
            <p:cNvSpPr/>
            <p:nvPr/>
          </p:nvSpPr>
          <p:spPr>
            <a:xfrm>
              <a:off x="3642312" y="1084083"/>
              <a:ext cx="990600" cy="791722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/>
                <a:t>S</a:t>
              </a:r>
              <a:endParaRPr lang="en-US" sz="4400" b="1" dirty="0"/>
            </a:p>
          </p:txBody>
        </p:sp>
        <p:sp>
          <p:nvSpPr>
            <p:cNvPr id="35" name="Pentagon 34"/>
            <p:cNvSpPr/>
            <p:nvPr/>
          </p:nvSpPr>
          <p:spPr>
            <a:xfrm>
              <a:off x="3642311" y="2128303"/>
              <a:ext cx="990600" cy="791722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/>
                <a:t>M</a:t>
              </a:r>
              <a:endParaRPr lang="en-US" sz="4400" b="1" dirty="0"/>
            </a:p>
          </p:txBody>
        </p:sp>
        <p:sp>
          <p:nvSpPr>
            <p:cNvPr id="36" name="Pentagon 35"/>
            <p:cNvSpPr/>
            <p:nvPr/>
          </p:nvSpPr>
          <p:spPr>
            <a:xfrm>
              <a:off x="3642311" y="3172523"/>
              <a:ext cx="990600" cy="791722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/>
                <a:t>A</a:t>
              </a:r>
              <a:endParaRPr lang="en-US" sz="4400" b="1" dirty="0"/>
            </a:p>
          </p:txBody>
        </p:sp>
        <p:sp>
          <p:nvSpPr>
            <p:cNvPr id="37" name="Pentagon 36"/>
            <p:cNvSpPr/>
            <p:nvPr/>
          </p:nvSpPr>
          <p:spPr>
            <a:xfrm>
              <a:off x="3642311" y="4252033"/>
              <a:ext cx="990600" cy="791722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/>
                <a:t>R</a:t>
              </a:r>
              <a:endParaRPr lang="en-US" sz="4400" b="1" dirty="0"/>
            </a:p>
          </p:txBody>
        </p:sp>
        <p:sp>
          <p:nvSpPr>
            <p:cNvPr id="38" name="Pentagon 37"/>
            <p:cNvSpPr/>
            <p:nvPr/>
          </p:nvSpPr>
          <p:spPr>
            <a:xfrm>
              <a:off x="3642311" y="5253013"/>
              <a:ext cx="990600" cy="791722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b="1" dirty="0" smtClean="0"/>
                <a:t>T</a:t>
              </a:r>
              <a:endParaRPr lang="en-US" sz="4400" b="1" dirty="0"/>
            </a:p>
          </p:txBody>
        </p:sp>
      </p:grpSp>
      <p:sp>
        <p:nvSpPr>
          <p:cNvPr id="40" name="Title 1"/>
          <p:cNvSpPr>
            <a:spLocks noGrp="1"/>
          </p:cNvSpPr>
          <p:nvPr>
            <p:ph type="title"/>
          </p:nvPr>
        </p:nvSpPr>
        <p:spPr>
          <a:xfrm>
            <a:off x="479376" y="477969"/>
            <a:ext cx="9000000" cy="332399"/>
          </a:xfrm>
        </p:spPr>
        <p:txBody>
          <a:bodyPr/>
          <a:lstStyle/>
          <a:p>
            <a:r>
              <a:rPr lang="en-US" sz="2400" dirty="0" smtClean="0"/>
              <a:t>PRACTICE SOLUTION</a:t>
            </a:r>
            <a:r>
              <a:rPr lang="en-US" sz="2400" dirty="0"/>
              <a:t>: </a:t>
            </a:r>
            <a:r>
              <a:rPr lang="en-US" sz="2400" dirty="0" smtClean="0"/>
              <a:t>Testing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286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</a:t>
            </a:r>
            <a:r>
              <a:rPr lang="en-US" dirty="0" err="1" smtClean="0"/>
              <a:t>TestiNG</a:t>
            </a:r>
            <a:r>
              <a:rPr lang="en-US" dirty="0" smtClean="0"/>
              <a:t>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9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568973"/>
              </p:ext>
            </p:extLst>
          </p:nvPr>
        </p:nvGraphicFramePr>
        <p:xfrm>
          <a:off x="750670" y="1077347"/>
          <a:ext cx="10565029" cy="2545080"/>
        </p:xfrm>
        <a:graphic>
          <a:graphicData uri="http://schemas.openxmlformats.org/drawingml/2006/table">
            <a:tbl>
              <a:tblPr/>
              <a:tblGrid>
                <a:gridCol w="4946395"/>
                <a:gridCol w="5618634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Test Environment Construction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3034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Set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up e2s Environment (simulator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debug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- Aug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(3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Investigate about the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 e2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studio and plug-ins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notes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important steps to create testing environment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Set-up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based on Mentor’s hints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Provide reference documents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Check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output and feedback</a:t>
                      </a: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 up e2s Environment (various hardware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debug)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Aug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- Nov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(3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notes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important steps to create testing environment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Set-up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based on Mentor’s hints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Provide reference documents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Check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output and feedback</a:t>
                      </a: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501433"/>
              </p:ext>
            </p:extLst>
          </p:nvPr>
        </p:nvGraphicFramePr>
        <p:xfrm>
          <a:off x="750670" y="3755916"/>
          <a:ext cx="10565029" cy="2620518"/>
        </p:xfrm>
        <a:graphic>
          <a:graphicData uri="http://schemas.openxmlformats.org/drawingml/2006/table">
            <a:tbl>
              <a:tblPr/>
              <a:tblGrid>
                <a:gridCol w="4946395"/>
                <a:gridCol w="5618634"/>
              </a:tblGrid>
              <a:tr h="349758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Testing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362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Re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ported issues due to lack of knowledge less than 40%</a:t>
                      </a: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/>
                      </a:r>
                      <a:b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</a:b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- Aug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(3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old test report, bug report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comprehension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test report, bug report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old test report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output and feedback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baseline="0" dirty="0" smtClean="0">
                          <a:latin typeface="+mn-lt"/>
                          <a:cs typeface="Calibri" pitchFamily="34" charset="0"/>
                        </a:rPr>
                        <a:t>-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Reported issues due to lack of knowledge less than 20%</a:t>
                      </a:r>
                      <a:endParaRPr lang="en-US" sz="1300" b="1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Aug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- Nov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(3 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baseline="0" dirty="0" smtClean="0">
                          <a:latin typeface="+mn-lt"/>
                          <a:cs typeface="Calibri" pitchFamily="34" charset="0"/>
                        </a:rPr>
                        <a:t>Mentee: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unclear points in requirement spec. with Mentor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test report, bug report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Mentor: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output and feedback.</a:t>
                      </a:r>
                      <a:endParaRPr lang="en-US" sz="1300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54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Testing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10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427005"/>
              </p:ext>
            </p:extLst>
          </p:nvPr>
        </p:nvGraphicFramePr>
        <p:xfrm>
          <a:off x="838200" y="1170575"/>
          <a:ext cx="9456683" cy="2346960"/>
        </p:xfrm>
        <a:graphic>
          <a:graphicData uri="http://schemas.openxmlformats.org/drawingml/2006/table">
            <a:tbl>
              <a:tblPr/>
              <a:tblGrid>
                <a:gridCol w="5418083"/>
                <a:gridCol w="4038600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Test item extraction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75%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Oct 2017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Investigate documents,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analyze old test spec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. to get test viewpoint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Confirm test viewpoint with mentor, then conduct creating test spec.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reference documents, sample PCL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investigate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output and feedback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100%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Oct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(6 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Ask Mentor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confirming knowledge and unclear points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investigate. Check output and feedback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115146"/>
              </p:ext>
            </p:extLst>
          </p:nvPr>
        </p:nvGraphicFramePr>
        <p:xfrm>
          <a:off x="838200" y="3738065"/>
          <a:ext cx="9456683" cy="2545080"/>
        </p:xfrm>
        <a:graphic>
          <a:graphicData uri="http://schemas.openxmlformats.org/drawingml/2006/table">
            <a:tbl>
              <a:tblPr/>
              <a:tblGrid>
                <a:gridCol w="5418083"/>
                <a:gridCol w="4038600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Failure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 analysis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75%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(12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unclear points in requirement spec. with Mentor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old test report, bug report for comprehension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test report, bug report</a:t>
                      </a:r>
                      <a:endParaRPr kumimoji="1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old test report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output and feedback.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Can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 analyze normal bug without support.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b="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en-US" sz="1300" b="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b="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 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2018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2019 (12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analysis failure report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output and unclear points with Mentor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analyze failure efficiently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report and feedback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2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testing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11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269651"/>
              </p:ext>
            </p:extLst>
          </p:nvPr>
        </p:nvGraphicFramePr>
        <p:xfrm>
          <a:off x="1066800" y="1676400"/>
          <a:ext cx="10058400" cy="2971800"/>
        </p:xfrm>
        <a:graphic>
          <a:graphicData uri="http://schemas.openxmlformats.org/drawingml/2006/table">
            <a:tbl>
              <a:tblPr/>
              <a:tblGrid>
                <a:gridCol w="5762829"/>
                <a:gridCol w="4295571"/>
              </a:tblGrid>
              <a:tr h="332921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410700" algn="l"/>
                        </a:tabLst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Validity verification</a:t>
                      </a: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6388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system verification specification with viewpoint of user with little support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Discuss test view points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with mentor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the related documents collected by mentor to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test specification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and conduct system test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Take investigation note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knowledge sharing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referent documents and old test data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to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Review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output of mentee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feedback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system verification specification with viewpoint of user 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2018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2019 (12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Discuss test view points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with mentor;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Take investigation note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knowledge sharing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referent documents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to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Review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output of mentee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feedback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8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12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306701"/>
              </p:ext>
            </p:extLst>
          </p:nvPr>
        </p:nvGraphicFramePr>
        <p:xfrm>
          <a:off x="1089454" y="1449848"/>
          <a:ext cx="9654746" cy="2207752"/>
        </p:xfrm>
        <a:graphic>
          <a:graphicData uri="http://schemas.openxmlformats.org/drawingml/2006/table">
            <a:tbl>
              <a:tblPr/>
              <a:tblGrid>
                <a:gridCol w="9654746"/>
              </a:tblGrid>
              <a:tr h="380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IDE </a:t>
                      </a: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architecture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826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understand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IDE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architecture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2018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for IDE knowledge got from IDE Verification tasks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Given some hints and experiences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for Mentee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kumimoji="1" lang="en-US" sz="13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656837"/>
              </p:ext>
            </p:extLst>
          </p:nvPr>
        </p:nvGraphicFramePr>
        <p:xfrm>
          <a:off x="1103870" y="3962400"/>
          <a:ext cx="9640330" cy="2057400"/>
        </p:xfrm>
        <a:graphic>
          <a:graphicData uri="http://schemas.openxmlformats.org/drawingml/2006/table">
            <a:tbl>
              <a:tblPr/>
              <a:tblGrid>
                <a:gridCol w="9640330"/>
              </a:tblGrid>
              <a:tr h="319207"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. </a:t>
                      </a: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Operating</a:t>
                      </a:r>
                      <a:r>
                        <a:rPr lang="en-US" sz="13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 System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7381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understand objective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Operating System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of assigned product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2019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(24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Investigate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OS document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note for OS knowledge got from IDE Verification tasks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Given some hints and experiences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for Mentee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endParaRPr kumimoji="1" lang="en-US" sz="13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38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13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170868"/>
              </p:ext>
            </p:extLst>
          </p:nvPr>
        </p:nvGraphicFramePr>
        <p:xfrm>
          <a:off x="1066800" y="1752600"/>
          <a:ext cx="9372600" cy="2590800"/>
        </p:xfrm>
        <a:graphic>
          <a:graphicData uri="http://schemas.openxmlformats.org/drawingml/2006/table">
            <a:tbl>
              <a:tblPr/>
              <a:tblGrid>
                <a:gridCol w="9372600"/>
              </a:tblGrid>
              <a:tr h="3741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Development process</a:t>
                      </a:r>
                      <a:endParaRPr lang="en-US" sz="1200" b="1" dirty="0" smtClean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216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do feed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back by looking at result of work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2019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(24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Attend meeting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to follow the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process requirement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activities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to Mentor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Require Mentee to follow process in his work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Monitor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Mentee’s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activities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kumimoji="1" lang="en-US" sz="11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9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14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063304"/>
              </p:ext>
            </p:extLst>
          </p:nvPr>
        </p:nvGraphicFramePr>
        <p:xfrm>
          <a:off x="914399" y="1143001"/>
          <a:ext cx="10054281" cy="2459732"/>
        </p:xfrm>
        <a:graphic>
          <a:graphicData uri="http://schemas.openxmlformats.org/drawingml/2006/table">
            <a:tbl>
              <a:tblPr/>
              <a:tblGrid>
                <a:gridCol w="5760469"/>
                <a:gridCol w="4293812"/>
              </a:tblGrid>
              <a:tr h="292096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1" lang="en-US" sz="1200" b="1" i="0" u="none" strike="noStrike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Management Ability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1463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keep assigned schedule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Oct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2018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Make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schedule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endParaRPr lang="en-US" sz="1300" b="0" baseline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Given experiences and tips for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Mentee’s schedule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keep schedule and raise alarm if necessary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Make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schedule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and define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risk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for each task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estimating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ability base on previous works by collecting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data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Given experiences and tips for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Mentee’s schedule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and risk management table </a:t>
                      </a: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93098"/>
              </p:ext>
            </p:extLst>
          </p:nvPr>
        </p:nvGraphicFramePr>
        <p:xfrm>
          <a:off x="910280" y="3721678"/>
          <a:ext cx="10091351" cy="2743200"/>
        </p:xfrm>
        <a:graphic>
          <a:graphicData uri="http://schemas.openxmlformats.org/drawingml/2006/table">
            <a:tbl>
              <a:tblPr/>
              <a:tblGrid>
                <a:gridCol w="5781708"/>
                <a:gridCol w="4309643"/>
              </a:tblGrid>
              <a:tr h="252672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Communication ability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2740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report his problem to supervisor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Oct 2018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status 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and get comments from Mentor (daily, weekly…)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Refer to report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of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experience engineers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English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Check Mentee’s report and give comments frequently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Monitor mentee’s improvement progress regularly, carefully and give advice (if any)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report work status in his team </a:t>
                      </a:r>
                      <a:endParaRPr lang="en-US" sz="1300" baseline="0" dirty="0" smtClean="0">
                        <a:solidFill>
                          <a:schemeClr val="tx1"/>
                        </a:solidFill>
                        <a:latin typeface="+mn-lt"/>
                        <a:cs typeface="Calibri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Oct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(6 months)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status 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and get comments from Mentor (daily, weekly…)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English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Check Mentee’s report and give comments frequently.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Monitor mentee’s improvement progress regularly, carefully and give advice (if any)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/>
                      </a:r>
                      <a:b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</a:br>
                      <a:endParaRPr lang="en-US" sz="1300" baseline="0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73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7" name="Text Placeholder 5"/>
          <p:cNvSpPr>
            <a:spLocks noGrp="1"/>
          </p:cNvSpPr>
          <p:nvPr>
            <p:ph idx="1"/>
          </p:nvPr>
        </p:nvSpPr>
        <p:spPr>
          <a:xfrm>
            <a:off x="480438" y="1752600"/>
            <a:ext cx="11231197" cy="3069558"/>
          </a:xfrm>
        </p:spPr>
        <p:txBody>
          <a:bodyPr/>
          <a:lstStyle/>
          <a:p>
            <a:r>
              <a:rPr lang="en-US" sz="2400" b="1" i="1" dirty="0"/>
              <a:t>Commitment </a:t>
            </a:r>
            <a:r>
              <a:rPr lang="en-US" sz="2400" b="1" i="1" dirty="0" smtClean="0"/>
              <a:t>after </a:t>
            </a:r>
            <a:r>
              <a:rPr lang="en-US" sz="2400" b="1" i="1" dirty="0"/>
              <a:t>2 </a:t>
            </a:r>
            <a:r>
              <a:rPr lang="en-US" sz="2400" b="1" i="1" dirty="0" smtClean="0"/>
              <a:t>years:</a:t>
            </a:r>
            <a:endParaRPr lang="en-US" sz="2400" b="1" i="1" dirty="0"/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Achieve </a:t>
            </a:r>
            <a:r>
              <a:rPr lang="en-US" sz="2500" b="1" dirty="0">
                <a:solidFill>
                  <a:srgbClr val="FF0000"/>
                </a:solidFill>
              </a:rPr>
              <a:t>L</a:t>
            </a:r>
            <a:r>
              <a:rPr lang="en-US" sz="2500" b="1" dirty="0" smtClean="0">
                <a:solidFill>
                  <a:srgbClr val="FF0000"/>
                </a:solidFill>
              </a:rPr>
              <a:t>evel </a:t>
            </a:r>
            <a:r>
              <a:rPr lang="en-US" sz="25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 smtClean="0"/>
              <a:t>for </a:t>
            </a:r>
            <a:r>
              <a:rPr lang="en-US" sz="2400" dirty="0" smtClean="0">
                <a:solidFill>
                  <a:srgbClr val="FF0000"/>
                </a:solidFill>
              </a:rPr>
              <a:t>T</a:t>
            </a:r>
            <a:r>
              <a:rPr kumimoji="0" lang="en-US" sz="2400" dirty="0">
                <a:solidFill>
                  <a:srgbClr val="FF0000"/>
                </a:solidFill>
                <a:ea typeface="Microsoft YaHei" charset="-122"/>
              </a:rPr>
              <a:t>e</a:t>
            </a:r>
            <a:r>
              <a:rPr kumimoji="0" lang="en-US" sz="2400" dirty="0" smtClean="0">
                <a:solidFill>
                  <a:srgbClr val="FF0000"/>
                </a:solidFill>
                <a:ea typeface="Microsoft YaHei" charset="-122"/>
              </a:rPr>
              <a:t>st validation Engineer</a:t>
            </a:r>
            <a:endParaRPr lang="en-US" sz="2400" dirty="0">
              <a:solidFill>
                <a:srgbClr val="FF0000"/>
              </a:solidFill>
            </a:endParaRP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Tasks </a:t>
            </a:r>
            <a:r>
              <a:rPr lang="en-US" sz="2400" dirty="0" smtClean="0">
                <a:solidFill>
                  <a:srgbClr val="FF0000"/>
                </a:solidFill>
              </a:rPr>
              <a:t>self-schedule </a:t>
            </a:r>
            <a:r>
              <a:rPr lang="en-US" sz="2400" dirty="0" smtClean="0"/>
              <a:t>ability.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Ensure </a:t>
            </a:r>
            <a:r>
              <a:rPr lang="en-US" sz="2400" dirty="0">
                <a:solidFill>
                  <a:srgbClr val="FF0000"/>
                </a:solidFill>
              </a:rPr>
              <a:t>the quality</a:t>
            </a:r>
            <a:r>
              <a:rPr lang="en-US" sz="2400" dirty="0"/>
              <a:t> of output and time management</a:t>
            </a:r>
            <a:r>
              <a:rPr lang="en-US" sz="2400" dirty="0" smtClean="0"/>
              <a:t>.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Support to train </a:t>
            </a:r>
            <a:r>
              <a:rPr lang="en-US" sz="2400" dirty="0"/>
              <a:t>new members join to project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964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/>
      </p:pic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917513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51021_Renesas_Templates_16_9_EN_conf_RVC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Renesas_fonts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23027CC0-E0AE-4831-839B-2A054B8942D5}" vid="{7A092532-8C16-4104-92EA-537B4E973A3C}"/>
    </a:ext>
  </a:extLst>
</a:theme>
</file>

<file path=ppt/theme/theme2.xml><?xml version="1.0" encoding="utf-8"?>
<a:theme xmlns:a="http://schemas.openxmlformats.org/drawingml/2006/main" name="Theme1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7074B6E-E2FB-4F1B-BFCA-5C5F6253BF39}" vid="{14B25424-866B-4E9B-820E-135B3E881C03}"/>
    </a:ext>
  </a:extLst>
</a:theme>
</file>

<file path=ppt/theme/theme3.xml><?xml version="1.0" encoding="utf-8"?>
<a:theme xmlns:a="http://schemas.openxmlformats.org/drawingml/2006/main" name="1_151229_Renesas_Templates_16_9_EN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4147FB1-DAE6-4AE8-976A-1D9502EBCD93}" vid="{D1F8C949-6990-4F7E-A752-F27DA72DB7FA}"/>
    </a:ext>
  </a:ext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151021_Renesas_Templates_16_9_EN_conf_RVC</Template>
  <TotalTime>62814</TotalTime>
  <Words>1935</Words>
  <Application>Microsoft Office PowerPoint</Application>
  <PresentationFormat>Widescreen</PresentationFormat>
  <Paragraphs>346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メイリオ</vt:lpstr>
      <vt:lpstr>Microsoft YaHei</vt:lpstr>
      <vt:lpstr>ＭＳ Ｐゴシック</vt:lpstr>
      <vt:lpstr>Arial</vt:lpstr>
      <vt:lpstr>Arial Narrow</vt:lpstr>
      <vt:lpstr>Calibri</vt:lpstr>
      <vt:lpstr>Courier New</vt:lpstr>
      <vt:lpstr>Symbol</vt:lpstr>
      <vt:lpstr>Times New Roman</vt:lpstr>
      <vt:lpstr>Wingdings</vt:lpstr>
      <vt:lpstr>151021_Renesas_Templates_16_9_EN_conf_RVC</vt:lpstr>
      <vt:lpstr>Theme1</vt:lpstr>
      <vt:lpstr>1_151229_Renesas_Templates_16_9_EN</vt:lpstr>
      <vt:lpstr>PowerPoint Presentation</vt:lpstr>
      <vt:lpstr>Agenda</vt:lpstr>
      <vt:lpstr>Training Target(1/2)</vt:lpstr>
      <vt:lpstr>Training Target(2/2)</vt:lpstr>
      <vt:lpstr>Current Status</vt:lpstr>
      <vt:lpstr>Gaps Analysis and Solution(1/2)</vt:lpstr>
      <vt:lpstr>Gaps Analysis and Solution(2/2)</vt:lpstr>
      <vt:lpstr>PRACTICE SOLUTION: Testing</vt:lpstr>
      <vt:lpstr>Training Plan – TestiNG SKILL</vt:lpstr>
      <vt:lpstr>Training Plan – Testing skill</vt:lpstr>
      <vt:lpstr>Training Plan – testing skill</vt:lpstr>
      <vt:lpstr>Training Plan – common skill</vt:lpstr>
      <vt:lpstr>Training Plan – common skill</vt:lpstr>
      <vt:lpstr>Training Plan – Common skill</vt:lpstr>
      <vt:lpstr>Commitment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Hieu Trung. Tran</dc:creator>
  <cp:lastModifiedBy>Nhi Yen. Cao</cp:lastModifiedBy>
  <cp:revision>482</cp:revision>
  <dcterms:created xsi:type="dcterms:W3CDTF">2016-06-23T01:54:16Z</dcterms:created>
  <dcterms:modified xsi:type="dcterms:W3CDTF">2017-07-27T07:17:56Z</dcterms:modified>
</cp:coreProperties>
</file>