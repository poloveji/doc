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  <p:sldMasterId id="2147483771" r:id="rId2"/>
    <p:sldMasterId id="2147483791" r:id="rId3"/>
  </p:sldMasterIdLst>
  <p:notesMasterIdLst>
    <p:notesMasterId r:id="rId19"/>
  </p:notesMasterIdLst>
  <p:sldIdLst>
    <p:sldId id="406" r:id="rId4"/>
    <p:sldId id="385" r:id="rId5"/>
    <p:sldId id="390" r:id="rId6"/>
    <p:sldId id="413" r:id="rId7"/>
    <p:sldId id="396" r:id="rId8"/>
    <p:sldId id="414" r:id="rId9"/>
    <p:sldId id="416" r:id="rId10"/>
    <p:sldId id="418" r:id="rId11"/>
    <p:sldId id="427" r:id="rId12"/>
    <p:sldId id="428" r:id="rId13"/>
    <p:sldId id="420" r:id="rId14"/>
    <p:sldId id="422" r:id="rId15"/>
    <p:sldId id="424" r:id="rId16"/>
    <p:sldId id="426" r:id="rId17"/>
    <p:sldId id="363" r:id="rId18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orient="horz" pos="2472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9" autoAdjust="0"/>
    <p:restoredTop sz="86314" autoAdjust="0"/>
  </p:normalViewPr>
  <p:slideViewPr>
    <p:cSldViewPr showGuides="1">
      <p:cViewPr varScale="1">
        <p:scale>
          <a:sx n="74" d="100"/>
          <a:sy n="74" d="100"/>
        </p:scale>
        <p:origin x="84" y="66"/>
      </p:cViewPr>
      <p:guideLst>
        <p:guide orient="horz"/>
        <p:guide pos="3976"/>
        <p:guide orient="horz" pos="2472"/>
        <p:guide orient="horz" pos="1389"/>
      </p:guideLst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7/27/2017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CLI-oriented:</a:t>
            </a:r>
            <a:r>
              <a:rPr lang="en-US" baseline="0" dirty="0" smtClean="0"/>
              <a:t> </a:t>
            </a:r>
            <a:r>
              <a:rPr lang="en-US" dirty="0" smtClean="0"/>
              <a:t>which means an end user must be able to do virtually anything with Eclipse from a console window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Expressive.:</a:t>
            </a:r>
            <a:r>
              <a:rPr lang="en-US" baseline="0" dirty="0" smtClean="0"/>
              <a:t> </a:t>
            </a:r>
            <a:r>
              <a:rPr lang="en-US" dirty="0" smtClean="0"/>
              <a:t>save time for software engineers and/or users, allowing to perform tasks faster than they would do with Java or JavaScript, or even using Eclipse UI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General purpose instrument:</a:t>
            </a:r>
            <a:r>
              <a:rPr lang="en-US" baseline="0" dirty="0" smtClean="0"/>
              <a:t> </a:t>
            </a:r>
            <a:r>
              <a:rPr lang="en-US" dirty="0" smtClean="0"/>
              <a:t>End users should be able to do virtually anything with their Eclipse environment using such a solution/language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8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086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390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307777"/>
          </a:xfrm>
          <a:ln>
            <a:noFill/>
          </a:ln>
        </p:spPr>
        <p:txBody>
          <a:bodyPr wrap="square">
            <a:spAutoFit/>
          </a:bodyPr>
          <a:lstStyle>
            <a:lvl1pPr marL="228600" indent="-228600">
              <a:spcAft>
                <a:spcPts val="1800"/>
              </a:spcAft>
              <a:buClrTx/>
              <a:buSzPct val="80000"/>
              <a:buFont typeface="Wingdings" panose="05000000000000000000" pitchFamily="2" charset="2"/>
              <a:buChar char="q"/>
              <a:tabLst>
                <a:tab pos="6637338" algn="r"/>
              </a:tabLst>
              <a:defRPr sz="20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9067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11231197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7873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94736" y="1268761"/>
            <a:ext cx="5412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81427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979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0"/>
            <a:ext cx="5400000" cy="477924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4560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593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336360" y="1268761"/>
            <a:ext cx="2363640" cy="80021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79376" y="1268760"/>
            <a:ext cx="8700624" cy="477924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4656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´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40016" y="1268760"/>
            <a:ext cx="5459984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9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8514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321000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2507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ph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0"/>
            <a:ext cx="8700624" cy="449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80376" y="1268760"/>
            <a:ext cx="2232248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411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2" y="5940001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39751"/>
            <a:ext cx="11252200" cy="1661993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60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Graph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768408" y="1268760"/>
            <a:ext cx="193159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3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51357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4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1357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6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963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08368" y="1268760"/>
            <a:ext cx="229163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79378" y="1268760"/>
            <a:ext cx="8700621" cy="307777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465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41010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751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484762"/>
            <a:ext cx="5280000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529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21627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822896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-22588"/>
            <a:ext cx="8520000" cy="886397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605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36717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165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07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55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80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016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3088033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9686381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33152728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999830162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69579023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7956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7430601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sp>
        <p:nvSpPr>
          <p:cNvPr id="7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661710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0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0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588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6661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7043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35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15159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968375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936657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4732587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7684904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673159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575983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83112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367644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40863475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025627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906436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7206717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6769184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999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1.gif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79376" y="445076"/>
            <a:ext cx="11242224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9376" y="1309075"/>
            <a:ext cx="11240598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2" y="6542446"/>
            <a:ext cx="279243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i="0" u="none" strike="noStrike" kern="120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2016 Renesas Design Vietnam Co., Ltd.. All rights reserved. </a:t>
            </a:r>
            <a:endParaRPr lang="en-US" sz="9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/>
          <p:cNvSpPr/>
          <p:nvPr/>
        </p:nvSpPr>
        <p:spPr>
          <a:xfrm>
            <a:off x="3412772" y="650389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226" y="6452761"/>
            <a:ext cx="1773748" cy="302481"/>
          </a:xfrm>
          <a:prstGeom prst="rect">
            <a:avLst/>
          </a:prstGeom>
        </p:spPr>
      </p:pic>
      <p:sp>
        <p:nvSpPr>
          <p:cNvPr id="11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72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9" r:id="rId9"/>
    <p:sldLayoutId id="2147483761" r:id="rId10"/>
    <p:sldLayoutId id="2147483762" r:id="rId11"/>
    <p:sldLayoutId id="2147483770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7013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anose="05000000000000000000" pitchFamily="2" charset="2"/>
        <a:buChar char="q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618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1"/>
            <a:ext cx="11277600" cy="6172201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1080000" y="-1"/>
            <a:ext cx="5778000" cy="2592000"/>
          </a:xfrm>
        </p:spPr>
        <p:txBody>
          <a:bodyPr/>
          <a:lstStyle/>
          <a:p>
            <a:r>
              <a:rPr lang="en-US" altLang="ja-JP" dirty="0" smtClean="0"/>
              <a:t>RCPTT INVESTIGATION</a:t>
            </a:r>
            <a:endParaRPr lang="en-US" altLang="ja-JP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778000" cy="60973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4898026"/>
            <a:ext cx="1414395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7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420611"/>
            <a:ext cx="8520000" cy="443198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>
                <a:latin typeface="+mn-lt"/>
              </a:rPr>
              <a:t>Page </a:t>
            </a:r>
            <a:fld id="{3FD030EF-7044-4946-962A-5D7D09BD1B34}" type="slidenum">
              <a:rPr lang="de-DE" smtClean="0">
                <a:latin typeface="+mn-lt"/>
              </a:rPr>
              <a:pPr/>
              <a:t>2</a:t>
            </a:fld>
            <a:endParaRPr lang="de-DE" dirty="0">
              <a:latin typeface="+mn-lt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79376" y="1676400"/>
            <a:ext cx="11233248" cy="1874359"/>
          </a:xfrm>
        </p:spPr>
        <p:txBody>
          <a:bodyPr/>
          <a:lstStyle/>
          <a:p>
            <a:r>
              <a:rPr lang="de-DE" dirty="0" smtClean="0"/>
              <a:t>Eclipse command language</a:t>
            </a:r>
          </a:p>
          <a:p>
            <a:r>
              <a:rPr lang="de-DE" dirty="0" smtClean="0"/>
              <a:t>Context </a:t>
            </a:r>
            <a:endParaRPr lang="de-DE" dirty="0" smtClean="0"/>
          </a:p>
          <a:p>
            <a:endParaRPr lang="de-DE" dirty="0"/>
          </a:p>
          <a:p>
            <a:r>
              <a:rPr lang="de-DE"/>
              <a:t>https://www.eclipse.org/rcptt/documentation/userguide/contexts/folder/</a:t>
            </a:r>
            <a:r>
              <a:rPr lang="de-D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9250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76" y="367170"/>
            <a:ext cx="9000000" cy="443198"/>
          </a:xfrm>
        </p:spPr>
        <p:txBody>
          <a:bodyPr/>
          <a:lstStyle/>
          <a:p>
            <a:r>
              <a:rPr lang="de-DE" dirty="0"/>
              <a:t>Eclipse command </a:t>
            </a:r>
            <a:r>
              <a:rPr lang="de-DE" dirty="0" smtClean="0"/>
              <a:t>language (ECL)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79376" y="1295400"/>
            <a:ext cx="9600624" cy="228575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Definition: 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ECL properties:</a:t>
            </a:r>
          </a:p>
          <a:p>
            <a:r>
              <a:rPr lang="en-US" dirty="0" smtClean="0"/>
              <a:t>		+ CLI-oriented</a:t>
            </a:r>
          </a:p>
          <a:p>
            <a:r>
              <a:rPr lang="en-US" dirty="0"/>
              <a:t>	</a:t>
            </a:r>
            <a:r>
              <a:rPr lang="en-US" dirty="0" smtClean="0"/>
              <a:t>	+ Expressive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/>
              <a:t>+ </a:t>
            </a:r>
            <a:r>
              <a:rPr lang="en-US" dirty="0" smtClean="0"/>
              <a:t>General </a:t>
            </a:r>
            <a:r>
              <a:rPr lang="en-US" dirty="0"/>
              <a:t>purpose instrument</a:t>
            </a:r>
            <a:endParaRPr lang="en-US" dirty="0" smtClean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76" y="367170"/>
            <a:ext cx="9000000" cy="443198"/>
          </a:xfrm>
        </p:spPr>
        <p:txBody>
          <a:bodyPr/>
          <a:lstStyle/>
          <a:p>
            <a:r>
              <a:rPr lang="de-DE" dirty="0"/>
              <a:t>Eclipse command </a:t>
            </a:r>
            <a:r>
              <a:rPr lang="de-DE" dirty="0" smtClean="0"/>
              <a:t>language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79376" y="1295400"/>
            <a:ext cx="9600624" cy="3479927"/>
          </a:xfrm>
        </p:spPr>
        <p:txBody>
          <a:bodyPr/>
          <a:lstStyle/>
          <a:p>
            <a:r>
              <a:rPr lang="en-US" dirty="0" smtClean="0"/>
              <a:t>- Invoke command: </a:t>
            </a:r>
            <a:r>
              <a:rPr lang="en-US" dirty="0" smtClean="0"/>
              <a:t>Used to </a:t>
            </a:r>
            <a:r>
              <a:rPr lang="en-US" dirty="0"/>
              <a:t>call an existing method of Java object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Implement </a:t>
            </a:r>
            <a:r>
              <a:rPr lang="en-US" dirty="0"/>
              <a:t>new custom ECL </a:t>
            </a:r>
            <a:r>
              <a:rPr lang="en-US" dirty="0" smtClean="0"/>
              <a:t>command:</a:t>
            </a:r>
          </a:p>
          <a:p>
            <a:r>
              <a:rPr lang="en-US" dirty="0" smtClean="0"/>
              <a:t>	+ Import RCP sources plugins</a:t>
            </a:r>
          </a:p>
          <a:p>
            <a:r>
              <a:rPr lang="en-US" dirty="0"/>
              <a:t>	</a:t>
            </a:r>
            <a:r>
              <a:rPr lang="en-US" dirty="0" smtClean="0"/>
              <a:t>+ Create plug-in project</a:t>
            </a:r>
          </a:p>
          <a:p>
            <a:r>
              <a:rPr lang="en-US" dirty="0"/>
              <a:t>	</a:t>
            </a:r>
            <a:r>
              <a:rPr lang="en-US" dirty="0" smtClean="0"/>
              <a:t>+ </a:t>
            </a:r>
            <a:r>
              <a:rPr lang="en-US" dirty="0"/>
              <a:t>Define EMF model for ECL command</a:t>
            </a:r>
          </a:p>
          <a:p>
            <a:r>
              <a:rPr lang="en-US" dirty="0" smtClean="0"/>
              <a:t>	+ </a:t>
            </a:r>
            <a:r>
              <a:rPr lang="en-US" dirty="0"/>
              <a:t>Implement </a:t>
            </a:r>
            <a:r>
              <a:rPr lang="en-US" dirty="0" err="1"/>
              <a:t>ShowViews</a:t>
            </a:r>
            <a:r>
              <a:rPr lang="en-US" dirty="0"/>
              <a:t> command</a:t>
            </a:r>
          </a:p>
          <a:p>
            <a:r>
              <a:rPr lang="en-US" dirty="0" smtClean="0"/>
              <a:t>	+ </a:t>
            </a:r>
            <a:r>
              <a:rPr lang="en-US" dirty="0"/>
              <a:t>Use show-views command</a:t>
            </a:r>
          </a:p>
          <a:p>
            <a:r>
              <a:rPr lang="en-US" dirty="0" smtClean="0"/>
              <a:t>	+ </a:t>
            </a:r>
            <a:r>
              <a:rPr lang="en-US" dirty="0"/>
              <a:t>Add show-view </a:t>
            </a:r>
            <a:r>
              <a:rPr lang="en-US" dirty="0" smtClean="0"/>
              <a:t>command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79376" y="1905000"/>
            <a:ext cx="9600624" cy="128445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Definition: </a:t>
            </a:r>
            <a:r>
              <a:rPr lang="en-US" dirty="0" smtClean="0"/>
              <a:t>A </a:t>
            </a:r>
            <a:r>
              <a:rPr lang="en-US" dirty="0"/>
              <a:t>context is a relevant </a:t>
            </a:r>
            <a:r>
              <a:rPr lang="en-US" i="1" dirty="0"/>
              <a:t>part</a:t>
            </a:r>
            <a:r>
              <a:rPr lang="en-US" dirty="0"/>
              <a:t> of the application </a:t>
            </a:r>
            <a:r>
              <a:rPr lang="en-US" i="1" dirty="0"/>
              <a:t>state</a:t>
            </a:r>
            <a:r>
              <a:rPr lang="en-US" dirty="0"/>
              <a:t>, which is expected to be recreated by the test case. </a:t>
            </a:r>
            <a:r>
              <a:rPr lang="en-US" dirty="0" smtClean="0"/>
              <a:t>The </a:t>
            </a:r>
            <a:r>
              <a:rPr lang="en-US" dirty="0"/>
              <a:t>test engineer can group contexts in any combination required for particular test, and it makes a context an important unit for reuse within your test </a:t>
            </a:r>
            <a:r>
              <a:rPr lang="en-US" dirty="0" smtClean="0"/>
              <a:t>base.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smtClean="0"/>
              <a:t>Example: </a:t>
            </a:r>
            <a:r>
              <a:rPr lang="en-US" dirty="0" smtClean="0"/>
              <a:t>Workspace, Workbench, Launch,….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00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1836" y="1900329"/>
            <a:ext cx="9676327" cy="56374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Usage: </a:t>
            </a:r>
            <a:r>
              <a:rPr lang="en-US" dirty="0" smtClean="0"/>
              <a:t>prepare </a:t>
            </a:r>
            <a:r>
              <a:rPr lang="en-US" dirty="0"/>
              <a:t>the initial workspace content </a:t>
            </a:r>
            <a:r>
              <a:rPr lang="en-US" dirty="0" smtClean="0"/>
              <a:t>for </a:t>
            </a:r>
            <a:r>
              <a:rPr lang="en-US" dirty="0"/>
              <a:t>test case. </a:t>
            </a:r>
            <a:r>
              <a:rPr lang="en-US" dirty="0" smtClean="0"/>
              <a:t>It contains </a:t>
            </a:r>
            <a:r>
              <a:rPr lang="en-US" dirty="0"/>
              <a:t>projects and files you need to place on your workspace before running your </a:t>
            </a:r>
            <a:r>
              <a:rPr lang="en-US" dirty="0" smtClean="0"/>
              <a:t>test.</a:t>
            </a: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 smtClean="0"/>
              <a:t>1</a:t>
            </a:r>
            <a:r>
              <a:rPr lang="en-US" sz="2400" dirty="0" smtClean="0"/>
              <a:t>. </a:t>
            </a:r>
            <a:r>
              <a:rPr lang="en-US" sz="2400" b="0" dirty="0" err="1" smtClean="0"/>
              <a:t>WORkSPACE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92330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3073" y="1913922"/>
            <a:ext cx="9000000" cy="1887696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Usage: used </a:t>
            </a:r>
            <a:r>
              <a:rPr lang="en-US" dirty="0"/>
              <a:t>to control perspective, views and open editors of application under </a:t>
            </a:r>
            <a:r>
              <a:rPr lang="en-US" dirty="0" smtClean="0"/>
              <a:t>test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/>
              <a:t>1/ Is a workbench used to open a Java file or C file on editors</a:t>
            </a:r>
            <a:r>
              <a:rPr lang="en-US" dirty="0" smtClean="0"/>
              <a:t>? Java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smtClean="0"/>
              <a:t>2</a:t>
            </a:r>
            <a:r>
              <a:rPr lang="en-US" dirty="0"/>
              <a:t>/ Is a workbench used to open one or many views before running the test</a:t>
            </a:r>
            <a:r>
              <a:rPr lang="en-US" dirty="0" smtClean="0"/>
              <a:t>? many</a:t>
            </a: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2</a:t>
            </a:r>
            <a:r>
              <a:rPr lang="en-US" sz="2400" dirty="0" smtClean="0"/>
              <a:t>. </a:t>
            </a:r>
            <a:r>
              <a:rPr lang="en-US" sz="2400" b="0" dirty="0" err="1" smtClean="0"/>
              <a:t>WORkBENCH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62066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3073" y="1974250"/>
            <a:ext cx="9000000" cy="3775393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Launch </a:t>
            </a:r>
            <a:r>
              <a:rPr lang="en-US" dirty="0"/>
              <a:t>contexts are used to control AUT Launches and Launch </a:t>
            </a:r>
            <a:r>
              <a:rPr lang="en-US" dirty="0" smtClean="0"/>
              <a:t>Configurations</a:t>
            </a:r>
            <a:r>
              <a:rPr lang="en-US" dirty="0"/>
              <a:t> </a:t>
            </a:r>
            <a:r>
              <a:rPr lang="en-US" dirty="0" smtClean="0"/>
              <a:t>such as:</a:t>
            </a:r>
          </a:p>
          <a:p>
            <a:r>
              <a:rPr lang="en-US" dirty="0" smtClean="0"/>
              <a:t>	+ Add </a:t>
            </a:r>
            <a:r>
              <a:rPr lang="en-US" dirty="0"/>
              <a:t>Launch Configurations and/or run the required ones</a:t>
            </a:r>
          </a:p>
          <a:p>
            <a:r>
              <a:rPr lang="en-US" dirty="0" smtClean="0"/>
              <a:t>	+ Add </a:t>
            </a:r>
            <a:r>
              <a:rPr lang="en-US" dirty="0"/>
              <a:t>breakpoints and pause a required launch at a breakpoint</a:t>
            </a:r>
          </a:p>
          <a:p>
            <a:r>
              <a:rPr lang="en-US" dirty="0" smtClean="0"/>
              <a:t>	+ Terminate </a:t>
            </a:r>
            <a:r>
              <a:rPr lang="en-US" dirty="0"/>
              <a:t>existing launches (optional)</a:t>
            </a:r>
          </a:p>
          <a:p>
            <a:r>
              <a:rPr lang="en-US" dirty="0" smtClean="0"/>
              <a:t>	+ Clear </a:t>
            </a:r>
            <a:r>
              <a:rPr lang="en-US" dirty="0"/>
              <a:t>launch configurations (optional)</a:t>
            </a:r>
          </a:p>
          <a:p>
            <a:r>
              <a:rPr lang="en-US" dirty="0" smtClean="0"/>
              <a:t>	+ Clear </a:t>
            </a:r>
            <a:r>
              <a:rPr lang="en-US" dirty="0"/>
              <a:t>breakpoints (optional)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/ Is a launch used to add a launch configuration?</a:t>
            </a:r>
            <a:br>
              <a:rPr lang="en-US" dirty="0"/>
            </a:b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3</a:t>
            </a:r>
            <a:r>
              <a:rPr lang="en-US" sz="2400" dirty="0" smtClean="0"/>
              <a:t>. </a:t>
            </a:r>
            <a:r>
              <a:rPr lang="en-US" sz="2400" b="0" dirty="0" smtClean="0"/>
              <a:t>LAUNCH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80967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3073" y="1974250"/>
            <a:ext cx="9000000" cy="590931"/>
          </a:xfrm>
        </p:spPr>
        <p:txBody>
          <a:bodyPr/>
          <a:lstStyle/>
          <a:p>
            <a:r>
              <a:rPr lang="en-US" dirty="0" smtClean="0"/>
              <a:t>2</a:t>
            </a:r>
            <a:r>
              <a:rPr lang="en-US" dirty="0"/>
              <a:t>/ How to add a breakpoint to the launch context?</a:t>
            </a:r>
            <a:br>
              <a:rPr lang="en-US" dirty="0"/>
            </a:b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3</a:t>
            </a:r>
            <a:r>
              <a:rPr lang="en-US" sz="2400" dirty="0" smtClean="0"/>
              <a:t>. </a:t>
            </a:r>
            <a:r>
              <a:rPr lang="en-US" sz="2400" b="0" dirty="0" smtClean="0"/>
              <a:t>LAUNCH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03157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2027056"/>
            <a:ext cx="9000000" cy="295466"/>
          </a:xfrm>
        </p:spPr>
        <p:txBody>
          <a:bodyPr/>
          <a:lstStyle/>
          <a:p>
            <a:r>
              <a:rPr lang="en-US" dirty="0" smtClean="0"/>
              <a:t>3</a:t>
            </a:r>
            <a:r>
              <a:rPr lang="en-US" dirty="0"/>
              <a:t>/ How to capture a launch context?</a:t>
            </a: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3</a:t>
            </a:r>
            <a:r>
              <a:rPr lang="en-US" sz="2400" dirty="0" smtClean="0"/>
              <a:t>. </a:t>
            </a:r>
            <a:r>
              <a:rPr lang="en-US" sz="2400" b="0" dirty="0" smtClean="0"/>
              <a:t>LAUNCH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02192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6634" y="2172883"/>
            <a:ext cx="9000000" cy="336502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Preferences </a:t>
            </a:r>
            <a:r>
              <a:rPr lang="en-US" dirty="0"/>
              <a:t>contexts allow to ensure that correct </a:t>
            </a:r>
            <a:r>
              <a:rPr lang="en-US" dirty="0" smtClean="0"/>
              <a:t>AUT </a:t>
            </a:r>
            <a:r>
              <a:rPr lang="en-US" dirty="0"/>
              <a:t>preferences are applied before test execution. </a:t>
            </a:r>
            <a:r>
              <a:rPr lang="en-US" dirty="0" smtClean="0"/>
              <a:t>It displays </a:t>
            </a:r>
            <a:r>
              <a:rPr lang="en-US" dirty="0"/>
              <a:t>tree of all available preferences and allows modifying/removing some of their values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While it is currently not tracked by RCPTT, the Preferences context may depend on AUT workspace content since the context may contain project-specific preferences. Therefore, it may also depend on a </a:t>
            </a:r>
            <a:r>
              <a:rPr lang="en-US" dirty="0" smtClean="0"/>
              <a:t>workspace context, </a:t>
            </a:r>
            <a:r>
              <a:rPr lang="en-US" dirty="0"/>
              <a:t>if there is one assigned to the test case.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/ What are preference contexts used for?</a:t>
            </a:r>
            <a:br>
              <a:rPr lang="en-US" dirty="0"/>
            </a:br>
            <a:r>
              <a:rPr lang="en-US" dirty="0"/>
              <a:t>2/ Is there the relation between the preference context and the workspace context?</a:t>
            </a: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/>
              <a:t>4</a:t>
            </a:r>
            <a:r>
              <a:rPr lang="en-US" sz="2400" b="0" dirty="0" smtClean="0"/>
              <a:t>. </a:t>
            </a:r>
            <a:r>
              <a:rPr lang="en-US" sz="2400" b="0" dirty="0" err="1" smtClean="0"/>
              <a:t>pREFERENCES</a:t>
            </a:r>
            <a:r>
              <a:rPr lang="en-US" sz="2400" b="0" dirty="0" smtClean="0"/>
              <a:t> 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51518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2514600"/>
            <a:ext cx="9000000" cy="2285754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dirty="0" smtClean="0"/>
              <a:t>Usage: to execute the same </a:t>
            </a:r>
            <a:r>
              <a:rPr lang="en-US" dirty="0"/>
              <a:t>test with different </a:t>
            </a:r>
            <a:r>
              <a:rPr lang="en-US" dirty="0" smtClean="0"/>
              <a:t>parameters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/ What will you do if you want to run a same test with different parameters?</a:t>
            </a: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 smtClean="0"/>
              <a:t>5. </a:t>
            </a:r>
            <a:r>
              <a:rPr lang="en-US" sz="2400" b="0" dirty="0" err="1" smtClean="0"/>
              <a:t>pARAMETERS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20116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158590"/>
            <a:ext cx="9000000" cy="317215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Group context represents combined references to contexts of other type which might help in context management. It is possible to group </a:t>
            </a:r>
            <a:r>
              <a:rPr lang="en-US" dirty="0" smtClean="0"/>
              <a:t>other contexts </a:t>
            </a:r>
            <a:r>
              <a:rPr lang="en-US" dirty="0"/>
              <a:t>together and refer to this group as a single Group context in the Test Editor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1</a:t>
            </a:r>
            <a:r>
              <a:rPr lang="en-US" dirty="0"/>
              <a:t>/ Can you group different contexts to a single Group context?</a:t>
            </a:r>
            <a:br>
              <a:rPr lang="en-US" dirty="0"/>
            </a:br>
            <a:r>
              <a:rPr lang="en-US" dirty="0"/>
              <a:t>2/ Is the order of contexts in a Group context important? </a:t>
            </a: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 smtClean="0"/>
              <a:t>6. GROUP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8985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2514600"/>
            <a:ext cx="9000000" cy="357020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But </a:t>
            </a:r>
            <a:r>
              <a:rPr lang="en-US" dirty="0"/>
              <a:t>sometimes you may need to put data somewhere outside your AUT workspace - anywhere on your disc space. Folder Context was coined for this purpose. When it is applied it puts files into a selected root folder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/ When is it useful to use a Folder context?</a:t>
            </a:r>
            <a:br>
              <a:rPr lang="en-US" dirty="0"/>
            </a:br>
            <a:r>
              <a:rPr lang="en-US" dirty="0"/>
              <a:t>2/ What is the difference between the Workspace context and </a:t>
            </a:r>
            <a:r>
              <a:rPr lang="en-US" dirty="0" err="1"/>
              <a:t>th</a:t>
            </a:r>
            <a:r>
              <a:rPr lang="en-US" dirty="0"/>
              <a:t> Folder context?</a:t>
            </a:r>
            <a:endParaRPr lang="en-US" dirty="0"/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763073" y="1330085"/>
            <a:ext cx="9000000" cy="3323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2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 smtClean="0"/>
              <a:t>7.FOLDER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96534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/>
      </p:pic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917513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51021_Renesas_Templates_16_9_EN_conf_RVC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Renesas_fonts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23027CC0-E0AE-4831-839B-2A054B8942D5}" vid="{7A092532-8C16-4104-92EA-537B4E973A3C}"/>
    </a:ext>
  </a:extLst>
</a:theme>
</file>

<file path=ppt/theme/theme2.xml><?xml version="1.0" encoding="utf-8"?>
<a:theme xmlns:a="http://schemas.openxmlformats.org/drawingml/2006/main" name="Theme1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7074B6E-E2FB-4F1B-BFCA-5C5F6253BF39}" vid="{14B25424-866B-4E9B-820E-135B3E881C03}"/>
    </a:ext>
  </a:extLst>
</a:theme>
</file>

<file path=ppt/theme/theme3.xml><?xml version="1.0" encoding="utf-8"?>
<a:theme xmlns:a="http://schemas.openxmlformats.org/drawingml/2006/main" name="1_151229_Renesas_Templates_16_9_EN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4147FB1-DAE6-4AE8-976A-1D9502EBCD93}" vid="{D1F8C949-6990-4F7E-A752-F27DA72DB7FA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151021_Renesas_Templates_16_9_EN_conf_RVC</Template>
  <TotalTime>62701</TotalTime>
  <Words>579</Words>
  <Application>Microsoft Office PowerPoint</Application>
  <PresentationFormat>Widescreen</PresentationFormat>
  <Paragraphs>101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Meiryo</vt:lpstr>
      <vt:lpstr>Arial</vt:lpstr>
      <vt:lpstr>Arial Narrow</vt:lpstr>
      <vt:lpstr>Calibri</vt:lpstr>
      <vt:lpstr>Courier New</vt:lpstr>
      <vt:lpstr>Symbol</vt:lpstr>
      <vt:lpstr>Wingdings</vt:lpstr>
      <vt:lpstr>151021_Renesas_Templates_16_9_EN_conf_RVC</vt:lpstr>
      <vt:lpstr>Theme1</vt:lpstr>
      <vt:lpstr>1_151229_Renesas_Templates_16_9_EN</vt:lpstr>
      <vt:lpstr>PowerPoint Presentation</vt:lpstr>
      <vt:lpstr>Agenda</vt:lpstr>
      <vt:lpstr>Eclipse command language (ECL)</vt:lpstr>
      <vt:lpstr>Eclipse command language</vt:lpstr>
      <vt:lpstr>context</vt:lpstr>
      <vt:lpstr>context</vt:lpstr>
      <vt:lpstr>context</vt:lpstr>
      <vt:lpstr>context</vt:lpstr>
      <vt:lpstr>context</vt:lpstr>
      <vt:lpstr>context</vt:lpstr>
      <vt:lpstr>context</vt:lpstr>
      <vt:lpstr>context</vt:lpstr>
      <vt:lpstr>context</vt:lpstr>
      <vt:lpstr>context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Hieu Trung. Tran</dc:creator>
  <cp:lastModifiedBy>Nhi Yen. Cao</cp:lastModifiedBy>
  <cp:revision>482</cp:revision>
  <dcterms:created xsi:type="dcterms:W3CDTF">2016-06-23T01:54:16Z</dcterms:created>
  <dcterms:modified xsi:type="dcterms:W3CDTF">2017-07-27T10:00:22Z</dcterms:modified>
</cp:coreProperties>
</file>